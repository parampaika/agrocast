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MAPE, %</c:v>
                </c:pt>
              </c:strCache>
            </c:strRef>
          </c:tx>
          <c:dPt>
            <c:idx val="0"/>
            <c:spPr>
              <a:solidFill>
                <a:srgbClr val="C9C4B5"/>
              </a:solidFill>
              <a:ln>
                <a:noFill/>
              </a:ln>
            </c:spPr>
          </c:dPt>
          <c:dPt>
            <c:idx val="1"/>
            <c:spPr>
              <a:solidFill>
                <a:srgbClr val="A9C6B3"/>
              </a:solidFill>
              <a:ln>
                <a:noFill/>
              </a:ln>
            </c:spPr>
          </c:dPt>
          <c:dPt>
            <c:idx val="2"/>
            <c:spPr>
              <a:solidFill>
                <a:srgbClr val="6FA286"/>
              </a:solidFill>
              <a:ln>
                <a:noFill/>
              </a:ln>
            </c:spPr>
          </c:dPt>
          <c:dPt>
            <c:idx val="3"/>
            <c:spPr>
              <a:solidFill>
                <a:srgbClr val="2E6B4F"/>
              </a:solidFill>
              <a:ln>
                <a:noFill/>
              </a:ln>
            </c:spPr>
          </c:dPt>
          <c:dPt>
            <c:idx val="4"/>
            <c:spPr>
              <a:solidFill>
                <a:srgbClr val="143629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Прошлый год</c:v>
                </c:pt>
                <c:pt idx="1">
                  <c:v>Тренд
без погоды</c:v>
                </c:pt>
                <c:pt idx="2">
                  <c:v>Тренд +
погода (Ridge)</c:v>
                </c:pt>
                <c:pt idx="3">
                  <c:v>Бустинг по
умолчанию + спутник</c:v>
                </c:pt>
                <c:pt idx="4">
                  <c:v>Optuna +
ансамбль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20.0</c:v>
                </c:pt>
                <c:pt idx="1">
                  <c:v>17.6</c:v>
                </c:pt>
                <c:pt idx="2">
                  <c:v>15.0</c:v>
                </c:pt>
                <c:pt idx="3">
                  <c:v>15.1</c:v>
                </c:pt>
                <c:pt idx="4">
                  <c:v>14.1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sz="1800" b="1">
                  <a:solidFill>
                    <a:srgbClr val="1E24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6E1D6"/>
            </a:solidFill>
          </a:ln>
        </c:spPr>
        <c:txPr>
          <a:bodyPr/>
          <a:lstStyle/>
          <a:p>
            <a:pPr>
              <a:defRPr sz="1300" b="0">
                <a:solidFill>
                  <a:srgbClr val="5A615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.0"/>
          <c:min val="0.0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8C918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A61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Все годы 2012–2025</c:v>
                </c:pt>
              </c:strCache>
            </c:strRef>
          </c:tx>
          <c:spPr>
            <a:solidFill>
              <a:srgbClr val="1F4D3A"/>
            </a:solidFill>
          </c:spPr>
          <c:dLbls>
            <c:numFmt formatCode="0" sourceLinked="0"/>
            <c:txPr>
              <a:bodyPr/>
              <a:lstStyle/>
              <a:p>
                <a:pPr>
                  <a:defRPr sz="1300" b="1">
                    <a:solidFill>
                      <a:srgbClr val="1E242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мая</c:v>
                </c:pt>
                <c:pt idx="1">
                  <c:v>1 июня</c:v>
                </c:pt>
                <c:pt idx="2">
                  <c:v>1 июля</c:v>
                </c:pt>
                <c:pt idx="3">
                  <c:v>1 авг.</c:v>
                </c:pt>
                <c:pt idx="4">
                  <c:v>Конец сезона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19.484561048873985</c:v>
                </c:pt>
                <c:pt idx="1">
                  <c:v>19.45904527450154</c:v>
                </c:pt>
                <c:pt idx="2">
                  <c:v>21.040867041836275</c:v>
                </c:pt>
                <c:pt idx="3">
                  <c:v>26.306460728351876</c:v>
                </c:pt>
                <c:pt idx="4">
                  <c:v>30.14047461201707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Отложенные 2019–2025</c:v>
                </c:pt>
              </c:strCache>
            </c:strRef>
          </c:tx>
          <c:spPr>
            <a:solidFill>
              <a:srgbClr val="E2B04A"/>
            </a:solidFill>
          </c:spPr>
          <c:dLbls>
            <c:numFmt formatCode="0" sourceLinked="0"/>
            <c:txPr>
              <a:bodyPr/>
              <a:lstStyle/>
              <a:p>
                <a:pPr>
                  <a:defRPr sz="1300" b="1">
                    <a:solidFill>
                      <a:srgbClr val="1E2420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мая</c:v>
                </c:pt>
                <c:pt idx="1">
                  <c:v>1 июня</c:v>
                </c:pt>
                <c:pt idx="2">
                  <c:v>1 июля</c:v>
                </c:pt>
                <c:pt idx="3">
                  <c:v>1 авг.</c:v>
                </c:pt>
                <c:pt idx="4">
                  <c:v>Конец сезона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19.006495074417696</c:v>
                </c:pt>
                <c:pt idx="1">
                  <c:v>20.431389305325688</c:v>
                </c:pt>
                <c:pt idx="2">
                  <c:v>21.480497871036864</c:v>
                </c:pt>
                <c:pt idx="3">
                  <c:v>28.644878612173223</c:v>
                </c:pt>
                <c:pt idx="4">
                  <c:v>29.57938142991401</c:v>
                </c:pt>
              </c:numCache>
            </c:numRef>
          </c:val>
        </c:ser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6E1D6"/>
            </a:solidFill>
          </a:ln>
        </c:spPr>
        <c:txPr>
          <a:bodyPr/>
          <a:lstStyle/>
          <a:p>
            <a:pPr>
              <a:defRPr sz="1200" b="0">
                <a:solidFill>
                  <a:srgbClr val="5A615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.0"/>
          <c:min val="0.0"/>
        </c:scaling>
        <c:delete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8C918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 b="0">
              <a:solidFill>
                <a:srgbClr val="5A615B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A61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Снижение ошибки</c:v>
                </c:pt>
              </c:strCache>
            </c:strRef>
          </c:tx>
          <c:spPr>
            <a:solidFill>
              <a:srgbClr val="2E6B4F"/>
            </a:solidFill>
          </c:spPr>
          <c:cat>
            <c:strRef>
              <c:f>Sheet1!$A$2:$A$8</c:f>
              <c:strCache>
                <c:ptCount val="7"/>
                <c:pt idx="0">
                  <c:v>Пшеница озимая</c:v>
                </c:pt>
                <c:pt idx="1">
                  <c:v>Свёкла</c:v>
                </c:pt>
                <c:pt idx="2">
                  <c:v>Ячмень</c:v>
                </c:pt>
                <c:pt idx="3">
                  <c:v>Пшеница яровая</c:v>
                </c:pt>
                <c:pt idx="4">
                  <c:v>Соя</c:v>
                </c:pt>
                <c:pt idx="5">
                  <c:v>Кукуруза</c:v>
                </c:pt>
                <c:pt idx="6">
                  <c:v>Подсолнечник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38.467370435284224</c:v>
                </c:pt>
                <c:pt idx="1">
                  <c:v>38.452441150756556</c:v>
                </c:pt>
                <c:pt idx="2">
                  <c:v>36.41807569418817</c:v>
                </c:pt>
                <c:pt idx="3">
                  <c:v>30.008366214377922</c:v>
                </c:pt>
                <c:pt idx="4">
                  <c:v>27.077210017496423</c:v>
                </c:pt>
                <c:pt idx="5">
                  <c:v>23.47493514927077</c:v>
                </c:pt>
                <c:pt idx="6">
                  <c:v>17.08492362274543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sz="1300" b="1">
                  <a:solidFill>
                    <a:srgbClr val="1E242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6E1D6"/>
            </a:solidFill>
          </a:ln>
        </c:spPr>
        <c:txPr>
          <a:bodyPr/>
          <a:lstStyle/>
          <a:p>
            <a:pPr>
              <a:defRPr sz="1200" b="0">
                <a:solidFill>
                  <a:srgbClr val="5A615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0"/>
          <c:min val="0.0"/>
        </c:scaling>
        <c:delete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8C918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A61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Погода и окна культуры</c:v>
                </c:pt>
              </c:strCache>
            </c:strRef>
          </c:tx>
          <c:spPr>
            <a:solidFill>
              <a:srgbClr val="1F4D3A"/>
            </a:solidFill>
            <a:ln w="19050">
              <a:solidFill>
                <a:srgbClr val="FFFFFF"/>
              </a:solidFill>
            </a:ln>
          </c:spPr>
          <c:dLbls>
            <c:numFmt formatCode="[&gt;=7]0;&quot;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Пшеница озимая</c:v>
                </c:pt>
                <c:pt idx="1">
                  <c:v>Пшеница яровая</c:v>
                </c:pt>
                <c:pt idx="2">
                  <c:v>Ячмень</c:v>
                </c:pt>
                <c:pt idx="3">
                  <c:v>Подсолнечник</c:v>
                </c:pt>
                <c:pt idx="4">
                  <c:v>Кукуруза</c:v>
                </c:pt>
                <c:pt idx="5">
                  <c:v>Соя</c:v>
                </c:pt>
                <c:pt idx="6">
                  <c:v>Свёкла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74.7</c:v>
                </c:pt>
                <c:pt idx="1">
                  <c:v>65.4</c:v>
                </c:pt>
                <c:pt idx="2">
                  <c:v>63.5</c:v>
                </c:pt>
                <c:pt idx="3">
                  <c:v>55.9</c:v>
                </c:pt>
                <c:pt idx="4">
                  <c:v>62.9</c:v>
                </c:pt>
                <c:pt idx="5">
                  <c:v>57.6</c:v>
                </c:pt>
                <c:pt idx="6">
                  <c:v>67.2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Спутник MODIS</c:v>
                </c:pt>
              </c:strCache>
            </c:strRef>
          </c:tx>
          <c:spPr>
            <a:solidFill>
              <a:srgbClr val="E2B04A"/>
            </a:solidFill>
            <a:ln w="19050">
              <a:solidFill>
                <a:srgbClr val="FFFFFF"/>
              </a:solidFill>
            </a:ln>
          </c:spPr>
          <c:dLbls>
            <c:numFmt formatCode="[&gt;=7]0;&quot;&quot;" sourceLinked="0"/>
            <c:txPr>
              <a:bodyPr/>
              <a:lstStyle/>
              <a:p>
                <a:pPr>
                  <a:defRPr sz="1200" b="1">
                    <a:solidFill>
                      <a:srgbClr val="1E242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Пшеница озимая</c:v>
                </c:pt>
                <c:pt idx="1">
                  <c:v>Пшеница яровая</c:v>
                </c:pt>
                <c:pt idx="2">
                  <c:v>Ячмень</c:v>
                </c:pt>
                <c:pt idx="3">
                  <c:v>Подсолнечник</c:v>
                </c:pt>
                <c:pt idx="4">
                  <c:v>Кукуруза</c:v>
                </c:pt>
                <c:pt idx="5">
                  <c:v>Соя</c:v>
                </c:pt>
                <c:pt idx="6">
                  <c:v>Свёкла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14.7</c:v>
                </c:pt>
                <c:pt idx="1">
                  <c:v>17.3</c:v>
                </c:pt>
                <c:pt idx="2">
                  <c:v>20.2</c:v>
                </c:pt>
                <c:pt idx="3">
                  <c:v>20.3</c:v>
                </c:pt>
                <c:pt idx="4">
                  <c:v>19.1</c:v>
                </c:pt>
                <c:pt idx="5">
                  <c:v>23.6</c:v>
                </c:pt>
                <c:pt idx="6">
                  <c:v>14.7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NDVI</c:v>
                </c:pt>
              </c:strCache>
            </c:strRef>
          </c:tx>
          <c:spPr>
            <a:solidFill>
              <a:srgbClr val="F2DFA8"/>
            </a:solidFill>
            <a:ln w="19050">
              <a:solidFill>
                <a:srgbClr val="FFFFFF"/>
              </a:solidFill>
            </a:ln>
          </c:spPr>
          <c:dLbls>
            <c:numFmt formatCode="[&gt;=7]0;&quot;&quot;" sourceLinked="0"/>
            <c:txPr>
              <a:bodyPr/>
              <a:lstStyle/>
              <a:p>
                <a:pPr>
                  <a:defRPr sz="1200" b="1">
                    <a:solidFill>
                      <a:srgbClr val="1E242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Пшеница озимая</c:v>
                </c:pt>
                <c:pt idx="1">
                  <c:v>Пшеница яровая</c:v>
                </c:pt>
                <c:pt idx="2">
                  <c:v>Ячмень</c:v>
                </c:pt>
                <c:pt idx="3">
                  <c:v>Подсолнечник</c:v>
                </c:pt>
                <c:pt idx="4">
                  <c:v>Кукуруза</c:v>
                </c:pt>
                <c:pt idx="5">
                  <c:v>Соя</c:v>
                </c:pt>
                <c:pt idx="6">
                  <c:v>Свёкла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3.9</c:v>
                </c:pt>
                <c:pt idx="1">
                  <c:v>4.8</c:v>
                </c:pt>
                <c:pt idx="2">
                  <c:v>7.2</c:v>
                </c:pt>
                <c:pt idx="3">
                  <c:v>4.5</c:v>
                </c:pt>
                <c:pt idx="4">
                  <c:v>5.5</c:v>
                </c:pt>
                <c:pt idx="5">
                  <c:v>10.4</c:v>
                </c:pt>
                <c:pt idx="6">
                  <c:v>10.9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Регион и прошлые отклонения</c:v>
                </c:pt>
              </c:strCache>
            </c:strRef>
          </c:tx>
          <c:spPr>
            <a:solidFill>
              <a:srgbClr val="A9C6B3"/>
            </a:solidFill>
            <a:ln w="19050">
              <a:solidFill>
                <a:srgbClr val="FFFFFF"/>
              </a:solidFill>
            </a:ln>
          </c:spPr>
          <c:dLbls>
            <c:numFmt formatCode="[&gt;=7]0;&quot;&quot;" sourceLinked="0"/>
            <c:txPr>
              <a:bodyPr/>
              <a:lstStyle/>
              <a:p>
                <a:pPr>
                  <a:defRPr sz="1200" b="1">
                    <a:solidFill>
                      <a:srgbClr val="1E242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Пшеница озимая</c:v>
                </c:pt>
                <c:pt idx="1">
                  <c:v>Пшеница яровая</c:v>
                </c:pt>
                <c:pt idx="2">
                  <c:v>Ячмень</c:v>
                </c:pt>
                <c:pt idx="3">
                  <c:v>Подсолнечник</c:v>
                </c:pt>
                <c:pt idx="4">
                  <c:v>Кукуруза</c:v>
                </c:pt>
                <c:pt idx="5">
                  <c:v>Соя</c:v>
                </c:pt>
                <c:pt idx="6">
                  <c:v>Свёкла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3.5</c:v>
                </c:pt>
                <c:pt idx="1">
                  <c:v>6.9</c:v>
                </c:pt>
                <c:pt idx="2">
                  <c:v>4.3</c:v>
                </c:pt>
                <c:pt idx="3">
                  <c:v>10.6</c:v>
                </c:pt>
                <c:pt idx="4">
                  <c:v>5.8</c:v>
                </c:pt>
                <c:pt idx="5">
                  <c:v>4.3</c:v>
                </c:pt>
                <c:pt idx="6">
                  <c:v>3.4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Почвы, рельеф, климат региона</c:v>
                </c:pt>
              </c:strCache>
            </c:strRef>
          </c:tx>
          <c:spPr>
            <a:solidFill>
              <a:srgbClr val="C9C4B5"/>
            </a:solidFill>
            <a:ln w="19050">
              <a:solidFill>
                <a:srgbClr val="FFFFFF"/>
              </a:solidFill>
            </a:ln>
          </c:spPr>
          <c:dLbls>
            <c:numFmt formatCode="[&gt;=7]0;&quot;&quot;" sourceLinked="0"/>
            <c:txPr>
              <a:bodyPr/>
              <a:lstStyle/>
              <a:p>
                <a:pPr>
                  <a:defRPr sz="1200" b="1">
                    <a:solidFill>
                      <a:srgbClr val="1E2420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Пшеница озимая</c:v>
                </c:pt>
                <c:pt idx="1">
                  <c:v>Пшеница яровая</c:v>
                </c:pt>
                <c:pt idx="2">
                  <c:v>Ячмень</c:v>
                </c:pt>
                <c:pt idx="3">
                  <c:v>Подсолнечник</c:v>
                </c:pt>
                <c:pt idx="4">
                  <c:v>Кукуруза</c:v>
                </c:pt>
                <c:pt idx="5">
                  <c:v>Соя</c:v>
                </c:pt>
                <c:pt idx="6">
                  <c:v>Свёкла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3.2</c:v>
                </c:pt>
                <c:pt idx="1">
                  <c:v>5.6</c:v>
                </c:pt>
                <c:pt idx="2">
                  <c:v>4.8</c:v>
                </c:pt>
                <c:pt idx="3">
                  <c:v>8.6</c:v>
                </c:pt>
                <c:pt idx="4">
                  <c:v>6.7</c:v>
                </c:pt>
                <c:pt idx="5">
                  <c:v>4.1</c:v>
                </c:pt>
                <c:pt idx="6">
                  <c:v>3.8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6E1D6"/>
            </a:solidFill>
          </a:ln>
        </c:spPr>
        <c:txPr>
          <a:bodyPr/>
          <a:lstStyle/>
          <a:p>
            <a:pPr>
              <a:defRPr sz="1300" b="0">
                <a:solidFill>
                  <a:srgbClr val="5A615B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8C918A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A615B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5A61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Средняя прибыль</c:v>
                </c:pt>
              </c:strCache>
            </c:strRef>
          </c:tx>
          <c:spPr>
            <a:ln w="41275">
              <a:solidFill>
                <a:srgbClr val="1F4D3A"/>
              </a:solidFill>
            </a:ln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7.000000000000001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14.000000000000002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28.000000000000004</c:v>
                </c:pt>
                <c:pt idx="29">
                  <c:v>28.999999999999996</c:v>
                </c:pt>
                <c:pt idx="30">
                  <c:v>30.0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-0.0</c:v>
                </c:pt>
                <c:pt idx="1">
                  <c:v>14.07139</c:v>
                </c:pt>
                <c:pt idx="2">
                  <c:v>27.66466</c:v>
                </c:pt>
                <c:pt idx="3">
                  <c:v>40.75975</c:v>
                </c:pt>
                <c:pt idx="4">
                  <c:v>53.21473</c:v>
                </c:pt>
                <c:pt idx="5">
                  <c:v>65.2421</c:v>
                </c:pt>
                <c:pt idx="6">
                  <c:v>76.80662</c:v>
                </c:pt>
                <c:pt idx="7">
                  <c:v>88.21097999999999</c:v>
                </c:pt>
                <c:pt idx="8">
                  <c:v>99.09362</c:v>
                </c:pt>
                <c:pt idx="9">
                  <c:v>109.28874</c:v>
                </c:pt>
                <c:pt idx="10">
                  <c:v>118.66671000000001</c:v>
                </c:pt>
                <c:pt idx="11">
                  <c:v>127.63215</c:v>
                </c:pt>
                <c:pt idx="12">
                  <c:v>136.27581</c:v>
                </c:pt>
                <c:pt idx="13">
                  <c:v>144.56301000000002</c:v>
                </c:pt>
                <c:pt idx="14">
                  <c:v>151.8889</c:v>
                </c:pt>
                <c:pt idx="15">
                  <c:v>159.06656</c:v>
                </c:pt>
                <c:pt idx="16">
                  <c:v>165.89214</c:v>
                </c:pt>
                <c:pt idx="17">
                  <c:v>172.71295999999998</c:v>
                </c:pt>
                <c:pt idx="18">
                  <c:v>179.46875</c:v>
                </c:pt>
                <c:pt idx="19">
                  <c:v>185.98453</c:v>
                </c:pt>
                <c:pt idx="20">
                  <c:v>191.7636</c:v>
                </c:pt>
                <c:pt idx="21">
                  <c:v>197.37182</c:v>
                </c:pt>
                <c:pt idx="22">
                  <c:v>202.72784</c:v>
                </c:pt>
                <c:pt idx="23">
                  <c:v>208.01099</c:v>
                </c:pt>
                <c:pt idx="24">
                  <c:v>213.17588</c:v>
                </c:pt>
                <c:pt idx="25">
                  <c:v>218.23012</c:v>
                </c:pt>
                <c:pt idx="26">
                  <c:v>223.16522</c:v>
                </c:pt>
                <c:pt idx="27">
                  <c:v>228.00418</c:v>
                </c:pt>
                <c:pt idx="28">
                  <c:v>232.86848</c:v>
                </c:pt>
                <c:pt idx="29">
                  <c:v>237.61088</c:v>
                </c:pt>
                <c:pt idx="30">
                  <c:v>242.22873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Sheet1!$B$34</c:f>
              <c:strCache>
                <c:ptCount val="1"/>
                <c:pt idx="0">
                  <c:v>Худшие 20 % сезонов</c:v>
                </c:pt>
              </c:strCache>
            </c:strRef>
          </c:tx>
          <c:spPr>
            <a:ln w="41275">
              <a:solidFill>
                <a:srgbClr val="C8962E"/>
              </a:solidFill>
              <a:prstDash val="dash"/>
            </a:ln>
          </c:spPr>
          <c:marker>
            <c:symbol val="none"/>
          </c:marker>
          <c:xVal>
            <c:numRef>
              <c:f>Sheet1!$A$35:$A$65</c:f>
              <c:numCache>
                <c:formatCode>General</c:formatCode>
                <c:ptCount val="31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7.000000000000001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14.000000000000002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28.000000000000004</c:v>
                </c:pt>
                <c:pt idx="29">
                  <c:v>28.999999999999996</c:v>
                </c:pt>
                <c:pt idx="30">
                  <c:v>30.0</c:v>
                </c:pt>
              </c:numCache>
            </c:numRef>
          </c:xVal>
          <c:yVal>
            <c:numRef>
              <c:f>Sheet1!$B$35:$B$65</c:f>
              <c:numCache>
                <c:formatCode>General</c:formatCode>
                <c:ptCount val="31"/>
                <c:pt idx="0">
                  <c:v>-0.0</c:v>
                </c:pt>
                <c:pt idx="1">
                  <c:v>14.24907</c:v>
                </c:pt>
                <c:pt idx="2">
                  <c:v>27.775599999999997</c:v>
                </c:pt>
                <c:pt idx="3">
                  <c:v>40.529720000000005</c:v>
                </c:pt>
                <c:pt idx="4">
                  <c:v>52.37399</c:v>
                </c:pt>
                <c:pt idx="5">
                  <c:v>63.792339999999996</c:v>
                </c:pt>
                <c:pt idx="6">
                  <c:v>74.80887</c:v>
                </c:pt>
                <c:pt idx="7">
                  <c:v>85.65914</c:v>
                </c:pt>
                <c:pt idx="8">
                  <c:v>96.04197</c:v>
                </c:pt>
                <c:pt idx="9">
                  <c:v>105.71652</c:v>
                </c:pt>
                <c:pt idx="10">
                  <c:v>114.502</c:v>
                </c:pt>
                <c:pt idx="11">
                  <c:v>122.79889</c:v>
                </c:pt>
                <c:pt idx="12">
                  <c:v>130.80688</c:v>
                </c:pt>
                <c:pt idx="13">
                  <c:v>138.5104</c:v>
                </c:pt>
                <c:pt idx="14">
                  <c:v>145.24288</c:v>
                </c:pt>
                <c:pt idx="15">
                  <c:v>151.55435</c:v>
                </c:pt>
                <c:pt idx="16">
                  <c:v>157.36325</c:v>
                </c:pt>
                <c:pt idx="17">
                  <c:v>163.02472</c:v>
                </c:pt>
                <c:pt idx="18">
                  <c:v>168.59942999999998</c:v>
                </c:pt>
                <c:pt idx="19">
                  <c:v>174.03328</c:v>
                </c:pt>
                <c:pt idx="20">
                  <c:v>178.84272</c:v>
                </c:pt>
                <c:pt idx="21">
                  <c:v>183.46235000000001</c:v>
                </c:pt>
                <c:pt idx="22">
                  <c:v>187.78597</c:v>
                </c:pt>
                <c:pt idx="23">
                  <c:v>191.99899</c:v>
                </c:pt>
                <c:pt idx="24">
                  <c:v>195.98516</c:v>
                </c:pt>
                <c:pt idx="25">
                  <c:v>199.79332</c:v>
                </c:pt>
                <c:pt idx="26">
                  <c:v>203.52456</c:v>
                </c:pt>
                <c:pt idx="27">
                  <c:v>207.00232</c:v>
                </c:pt>
                <c:pt idx="28">
                  <c:v>210.41998</c:v>
                </c:pt>
                <c:pt idx="29">
                  <c:v>213.69672</c:v>
                </c:pt>
                <c:pt idx="30">
                  <c:v>216.90566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Sheet1!$B$67</c:f>
              <c:strCache>
                <c:ptCount val="1"/>
                <c:pt idx="0">
                  <c:v>Точки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3"/>
            <c:spPr>
              <a:solidFill>
                <a:srgbClr val="E2B04A"/>
              </a:solidFill>
              <a:ln>
                <a:solidFill>
                  <a:srgbClr val="143629"/>
                </a:solidFill>
              </a:ln>
            </c:spPr>
          </c:marker>
          <c:xVal>
            <c:numRef>
              <c:f>Sheet1!$A$68:$A$69</c:f>
              <c:numCache>
                <c:formatCode>General</c:formatCode>
                <c:ptCount val="2"/>
                <c:pt idx="0">
                  <c:v>5</c:v>
                </c:pt>
                <c:pt idx="1">
                  <c:v>10</c:v>
                </c:pt>
              </c:numCache>
            </c:numRef>
          </c:xVal>
          <c:yVal>
            <c:numRef>
              <c:f>Sheet1!$B$68:$B$69</c:f>
              <c:numCache>
                <c:formatCode>General</c:formatCode>
                <c:ptCount val="2"/>
                <c:pt idx="0">
                  <c:v>65.2421</c:v>
                </c:pt>
                <c:pt idx="1">
                  <c:v>118.66671000000001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0.0"/>
          <c:min val="0.0"/>
        </c:scaling>
        <c:delete val="0"/>
        <c:axPos val="b"/>
        <c:numFmt formatCode="0&quot; п.п.&quot;" sourceLinked="0"/>
        <c:majorTickMark val="none"/>
        <c:minorTickMark val="none"/>
        <c:tickLblPos val="nextTo"/>
        <c:spPr>
          <a:ln>
            <a:solidFill>
              <a:srgbClr val="E6E1D6"/>
            </a:solidFill>
          </a:ln>
        </c:spPr>
        <c:txPr>
          <a:bodyPr/>
          <a:lstStyle/>
          <a:p>
            <a:pPr>
              <a:defRPr sz="1100" b="0">
                <a:solidFill>
                  <a:srgbClr val="5A615B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250.0"/>
          <c:min val="0.0"/>
        </c:scaling>
        <c:delete val="0"/>
        <c:axPos val="l"/>
        <c:majorGridlines>
          <c:spPr>
            <a:ln w="9525">
              <a:solidFill>
                <a:srgbClr val="E6E1D6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>
                <a:solidFill>
                  <a:srgbClr val="8C918A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A61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Меня зовут Соболев Даниил, это проект «Агрокаст» — решение задачи 5 кейса «Своё Фермерство». Мы прогнозируем урожайность на пять дат сезона, с 1 мая до конца, и на этой основе подсказываем, как немного изменить посевы, чтобы заработать больше. За шесть минут я покажу не просто обученную модель, а полноценное исследование: данные, честную проверку, результаты и работающий сайт.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просит калькулятор урожайности в тоннах на гектар и в общем объёме и объяснение пользы для планирования затрат и доходов. Фермеру прогноз нужен, чтобы решать, что сеять и сколько вложить, банку — чтобы видеть риск кредитов до уборки. Мы пошли дальше: прогноз превращается в рекомендацию, что именно поменять в плане посевов.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исследование на большом массиве данных: 17 источников — статистика ЕМИСС, погода, спутники, почвы — и 11,3 гигабайта сырых данных, 21 миллион строк наблюдений. В таблице модели 683 столбца признаков, а на единой проверке сравнено 4 069 конфигураций моделей, включая 10,2 тысячи попыток подбора гиперпараметров. Всё это держится на 60 автоматических тестах.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идут строго слева направо: сырые файлы, разбор, исследовательский слой и чистый слой, из которого питаются модель и сайт. При чистке строки не удаляются, а помечаются флагами, а любой слой пересобирается скриптом. Поэтому результат воспроизводим, и каждый шаг можно проверить.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устроена просто: урожайность — это тренд, умноженный на поправку за погоду, спутник и почву. Прогноз строится на пять дат, и всё, что наступит позже даты прогноза, замаскировано. Проверка скользящая, по времени: для каждого года с 2012 по 2025 модель обучается только на прошлом. Случайного разбиения нет, потому что год — общий шок для всех регионов.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результат — лесенка моделей. Прогноз «как в прошлом году» ошибается в среднем на 20 процентов, один тренд — на 17,6, линейная модель с погодой — на 15, а перебор с ансамблем — на 14,1. Средняя ошибка MAE ниже на 30 процентов. Скажу честно: бустинг «из коробки» со спутником линейную модель не обгоняет, весь выигрыш даёт настройка и ансамбль.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Прогноз уточняется по ходу сезона: уже 1 мая ошибка на 19 процентов ниже, чем у «прошлого года», а к концу сезона — на 30. Отложенные годы 2019–2025, которые не участвовали в подборе, дают тот же результат, поэтому это не подгонка. Озимая пшеница предсказуема уже с 1 мая, остальным культурам нужны июль и август. Восьмидесятипроцентный интервал накрывает факт в 83–93 процентах случаев, его полуширина — около 24 процентов.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объяснима. По SHAP погода даёт от 56 до 75 процентов вклада, спутник MODIS — от 15 до 24, больше всего у сои и подсолнечника. Главные признаки агрономически осмысленны: у озимой пшеницы это выход из зимы и перегрев в мае–июне, у кукурузы — засуха в июле, у свёклы — водный баланс.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часть — оптимизация структуры посевов: сценарная стохастическая оптимизация с критерием CVaR, который учитывает плохие годы, и ограничением на отклонение от текущего плана. Если менять долю каждой культуры не больше чем на 5 процентных пунктов, ожидаемая прибыль растёт в среднем на 1 301 рубль на гектар и почти столько же, 1 272, — в худшие 20 процентов сезонов. По субъектам медиана — 588 рублей на гектар, выигрыш есть у 97 процентов регионов. Проверка на прошлом, с 2012 по 2025 год, на исторических сценариях и только по данным до каждого года: фактический выигрыш 961 рубль на гектар, это 78 процентов обещанного, и план лучше текущего в 74 процентах случаев. Затраты — наши допущения, поэтому эффект читаем как верхнюю оценку.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Всё это собрано в сайте «Агрокаст»: карта по регионам и культурам со шкалой дат, карточка региона с факторами прогноза, калькулятор хозяйства с поправками на почву, сорт и агротехнику и экран оптимизации с ползунком «менять не больше X процентов». Сайт статический, работает без сервера, а код, данные и отчёт лежат в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Ограничения называю прямо: уровень прогноза — регион, ряды короткие, интервалы широкие, а затраты в оптимизации — допущения. Дальше — районы и хозяйства, спутник в реальном времени, совместные сценарии цены и урожая, удобрения и агротехника и интеграция с данными банка.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ошибка прогноза снижена на 30 процентов на честной проверке по времени, собрана воспроизводимая цепочка из 17 источников и 683 признаков, а оптимизация даёт 1 301 рубль на гектар от малых изменений плана.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051560"/>
            <a:ext cx="6400800" cy="1280160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0" b="1" i="0" lang="ru-RU">
                <a:solidFill>
                  <a:srgbClr val="FFFFFF"/>
                </a:solidFill>
                <a:latin typeface="Calibri"/>
              </a:rPr>
              <a:t>Агрокаст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56692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E2B04A"/>
                </a:solidFill>
                <a:latin typeface="Calibri"/>
              </a:rPr>
              <a:t>СТИПЕНДИЯ РОССЕЛЬХОЗБАНКА 2026–2027 · «СВОЁ ФЕРМЕРСТВО» · ЗАДАЧА 5</a:t>
            </a:r>
          </a:p>
        </p:txBody>
      </p:sp>
      <p:sp>
        <p:nvSpPr>
          <p:cNvPr id="4" name="Суть"/>
          <p:cNvSpPr txBox="1"/>
          <p:nvPr/>
        </p:nvSpPr>
        <p:spPr>
          <a:xfrm>
            <a:off x="548640" y="2331720"/>
            <a:ext cx="63093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000" b="0" i="0" lang="ru-RU">
                <a:solidFill>
                  <a:srgbClr val="FFFFFF"/>
                </a:solidFill>
                <a:latin typeface="Calibri"/>
              </a:rPr>
              <a:t>Прогноз урожайности на 5 дат сезона + оптимизация структуры посевов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400" b="1" i="0" lang="ru-RU">
                <a:solidFill>
                  <a:srgbClr val="E2B04A"/>
                </a:solidFill>
                <a:latin typeface="Calibri"/>
              </a:rPr>
              <a:t>−30 %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 lang="ru-RU">
                <a:solidFill>
                  <a:srgbClr val="D5E3DA"/>
                </a:solidFill>
                <a:latin typeface="Calibri"/>
              </a:rPr>
              <a:t>ошибки к прогнозу «как в прошлом году»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977639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400" b="1" i="0" lang="ru-RU">
                <a:solidFill>
                  <a:srgbClr val="E2B04A"/>
                </a:solidFill>
                <a:latin typeface="Calibri"/>
              </a:rPr>
              <a:t>4 069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572000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 lang="ru-RU">
                <a:solidFill>
                  <a:srgbClr val="D5E3DA"/>
                </a:solidFill>
                <a:latin typeface="Calibri"/>
              </a:rPr>
              <a:t>конфигураций моделей на единой проверке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3977639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400" b="1" i="0" lang="ru-RU">
                <a:solidFill>
                  <a:srgbClr val="E2B04A"/>
                </a:solidFill>
                <a:latin typeface="Calibri"/>
              </a:rPr>
              <a:t>+1 301 ₽/га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572000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 lang="ru-RU">
                <a:solidFill>
                  <a:srgbClr val="D5E3DA"/>
                </a:solidFill>
                <a:latin typeface="Calibri"/>
              </a:rPr>
              <a:t>от малых изменений плана посевов</a:t>
            </a:r>
          </a:p>
        </p:txBody>
      </p:sp>
      <p:sp>
        <p:nvSpPr>
          <p:cNvPr id="11" name="Автор"/>
          <p:cNvSpPr txBox="1"/>
          <p:nvPr/>
        </p:nvSpPr>
        <p:spPr>
          <a:xfrm>
            <a:off x="548640" y="57607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FFFFFF"/>
                </a:solidFill>
                <a:latin typeface="Calibri"/>
              </a:rPr>
              <a:t>Соболев Даниил</a:t>
            </a:r>
            <a:r>
              <a:rPr sz="1500" b="0" i="0" lang="ru-RU">
                <a:solidFill>
                  <a:srgbClr val="D5E3DA"/>
                </a:solidFill>
                <a:latin typeface="Calibri"/>
              </a:rPr>
              <a:t> · аспирант СПбПУ, специальность 5.2.2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9DB8A8"/>
                </a:solidFill>
                <a:latin typeface="Calibri"/>
              </a:rPr>
              <a:t>Октябрь 2026 · решение участника конкурса, не продукт банка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822960"/>
            <a:ext cx="4325112" cy="5394960"/>
          </a:xfrm>
          <a:prstGeom prst="roundRect">
            <a:avLst>
              <a:gd name="adj" fmla="val 4228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35240" y="1097280"/>
            <a:ext cx="368503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 lang="ru-RU">
                <a:solidFill>
                  <a:srgbClr val="E2B04A"/>
                </a:solidFill>
                <a:latin typeface="Calibri"/>
              </a:rPr>
              <a:t>ПРОГНОЗ УТОЧНЯЕТСЯ ПО МЕРЕ СЕЗОНА</a:t>
            </a:r>
          </a:p>
        </p:txBody>
      </p:sp>
      <p:sp>
        <p:nvSpPr>
          <p:cNvPr id="15" name="Freeform 14"/>
          <p:cNvSpPr/>
          <p:nvPr/>
        </p:nvSpPr>
        <p:spPr>
          <a:xfrm>
            <a:off x="7909560" y="1808854"/>
            <a:ext cx="3136392" cy="2880397"/>
          </a:xfrm>
          <a:custGeom>
            <a:avLst/>
            <a:gdLst/>
            <a:ahLst/>
            <a:cxnLst/>
            <a:rect l="l" t="t" r="r" b="b"/>
            <a:pathLst>
              <a:path w="3136392" h="2880397">
                <a:moveTo>
                  <a:pt x="0" y="359894"/>
                </a:moveTo>
                <a:lnTo>
                  <a:pt x="784098" y="318791"/>
                </a:lnTo>
                <a:lnTo>
                  <a:pt x="1568196" y="204018"/>
                </a:lnTo>
                <a:lnTo>
                  <a:pt x="2352294" y="118689"/>
                </a:lnTo>
                <a:lnTo>
                  <a:pt x="3136392" y="0"/>
                </a:lnTo>
                <a:lnTo>
                  <a:pt x="3136392" y="2234451"/>
                </a:lnTo>
                <a:lnTo>
                  <a:pt x="2352294" y="2390082"/>
                </a:lnTo>
                <a:lnTo>
                  <a:pt x="1568196" y="2579073"/>
                </a:lnTo>
                <a:lnTo>
                  <a:pt x="784098" y="2738620"/>
                </a:lnTo>
                <a:lnTo>
                  <a:pt x="0" y="2880397"/>
                </a:lnTo>
                <a:close/>
              </a:path>
            </a:pathLst>
          </a:custGeom>
          <a:solidFill>
            <a:srgbClr val="E2B04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909560" y="2924467"/>
            <a:ext cx="3136392" cy="917368"/>
          </a:xfrm>
          <a:custGeom>
            <a:avLst/>
            <a:gdLst/>
            <a:ahLst/>
            <a:cxnLst/>
            <a:rect l="l" t="t" r="r" b="b"/>
            <a:pathLst>
              <a:path w="3136392" h="917368">
                <a:moveTo>
                  <a:pt x="0" y="91697"/>
                </a:moveTo>
                <a:lnTo>
                  <a:pt x="784098" y="67279"/>
                </a:lnTo>
                <a:lnTo>
                  <a:pt x="1568196" y="27083"/>
                </a:lnTo>
                <a:lnTo>
                  <a:pt x="2352294" y="0"/>
                </a:lnTo>
                <a:lnTo>
                  <a:pt x="3136392" y="1613"/>
                </a:lnTo>
                <a:lnTo>
                  <a:pt x="3136392" y="1613"/>
                </a:lnTo>
                <a:lnTo>
                  <a:pt x="2352294" y="277545"/>
                </a:lnTo>
                <a:lnTo>
                  <a:pt x="1568196" y="524782"/>
                </a:lnTo>
                <a:lnTo>
                  <a:pt x="784098" y="758906"/>
                </a:lnTo>
                <a:lnTo>
                  <a:pt x="0" y="917368"/>
                </a:lnTo>
                <a:close/>
              </a:path>
            </a:pathLst>
          </a:custGeom>
          <a:solidFill>
            <a:srgbClr val="E2B04A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909560" y="1737360"/>
            <a:ext cx="0" cy="3337560"/>
          </a:xfrm>
          <a:prstGeom prst="line">
            <a:avLst/>
          </a:prstGeom>
          <a:ln w="9525">
            <a:solidFill>
              <a:srgbClr val="3E6E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93658" y="1737360"/>
            <a:ext cx="0" cy="3337560"/>
          </a:xfrm>
          <a:prstGeom prst="line">
            <a:avLst/>
          </a:prstGeom>
          <a:ln w="9525">
            <a:solidFill>
              <a:srgbClr val="3E6E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77756" y="1737360"/>
            <a:ext cx="0" cy="3337560"/>
          </a:xfrm>
          <a:prstGeom prst="line">
            <a:avLst/>
          </a:prstGeom>
          <a:ln w="9525">
            <a:solidFill>
              <a:srgbClr val="3E6E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61854" y="1737360"/>
            <a:ext cx="0" cy="3337560"/>
          </a:xfrm>
          <a:prstGeom prst="line">
            <a:avLst/>
          </a:prstGeom>
          <a:ln w="9525">
            <a:solidFill>
              <a:srgbClr val="3E6E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045952" y="1737360"/>
            <a:ext cx="0" cy="3337560"/>
          </a:xfrm>
          <a:prstGeom prst="line">
            <a:avLst/>
          </a:prstGeom>
          <a:ln w="9525">
            <a:solidFill>
              <a:srgbClr val="3E6E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7909560" y="2926080"/>
            <a:ext cx="3136392" cy="502920"/>
          </a:xfrm>
          <a:custGeom>
            <a:avLst/>
            <a:gdLst/>
            <a:ahLst/>
            <a:cxnLst/>
            <a:rect l="l" t="t" r="r" b="b"/>
            <a:pathLst>
              <a:path w="3136392" h="502920">
                <a:moveTo>
                  <a:pt x="0" y="502920"/>
                </a:moveTo>
                <a:lnTo>
                  <a:pt x="784098" y="411480"/>
                </a:lnTo>
                <a:lnTo>
                  <a:pt x="1568196" y="274320"/>
                </a:lnTo>
                <a:lnTo>
                  <a:pt x="2352294" y="137160"/>
                </a:lnTo>
                <a:lnTo>
                  <a:pt x="3136392" y="0"/>
                </a:lnTo>
              </a:path>
            </a:pathLst>
          </a:custGeom>
          <a:noFill/>
          <a:ln w="44450">
            <a:solidFill>
              <a:srgbClr val="E2B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4" y="33467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8080" y="5166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Calibri"/>
              </a:rPr>
              <a:t>1 мая</a:t>
            </a:r>
          </a:p>
        </p:txBody>
      </p:sp>
      <p:sp>
        <p:nvSpPr>
          <p:cNvPr id="25" name="Oval 24"/>
          <p:cNvSpPr/>
          <p:nvPr/>
        </p:nvSpPr>
        <p:spPr>
          <a:xfrm>
            <a:off x="8611362" y="325526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82178" y="5166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Calibri"/>
              </a:rPr>
              <a:t>1 июня</a:t>
            </a:r>
          </a:p>
        </p:txBody>
      </p:sp>
      <p:sp>
        <p:nvSpPr>
          <p:cNvPr id="27" name="Oval 26"/>
          <p:cNvSpPr/>
          <p:nvPr/>
        </p:nvSpPr>
        <p:spPr>
          <a:xfrm>
            <a:off x="9395460" y="311810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6276" y="5166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Calibri"/>
              </a:rPr>
              <a:t>1 июля</a:t>
            </a:r>
          </a:p>
        </p:txBody>
      </p:sp>
      <p:sp>
        <p:nvSpPr>
          <p:cNvPr id="29" name="Oval 28"/>
          <p:cNvSpPr/>
          <p:nvPr/>
        </p:nvSpPr>
        <p:spPr>
          <a:xfrm>
            <a:off x="10179558" y="298094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850374" y="5166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Calibri"/>
              </a:rPr>
              <a:t>1 авг.</a:t>
            </a:r>
          </a:p>
        </p:txBody>
      </p:sp>
      <p:sp>
        <p:nvSpPr>
          <p:cNvPr id="31" name="Oval 30"/>
          <p:cNvSpPr/>
          <p:nvPr/>
        </p:nvSpPr>
        <p:spPr>
          <a:xfrm>
            <a:off x="10963656" y="284378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634472" y="51663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 i="0" lang="ru-RU">
                <a:solidFill>
                  <a:srgbClr val="FFFFFF"/>
                </a:solidFill>
                <a:latin typeface="Calibri"/>
              </a:rPr>
              <a:t>конец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5532120"/>
            <a:ext cx="3685032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lang="ru-RU">
                <a:solidFill>
                  <a:srgbClr val="C9DACE"/>
                </a:solidFill>
                <a:latin typeface="Calibri"/>
              </a:rPr>
              <a:t>Схема. Широкая полоса — 80 % интервал по ошибкам прошлых лет, яркая — разброс погоды, которая ещё не наступила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Прогноз — это решение: что сеять и сколько вложить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ЗАДАЧА КЕЙСА</a:t>
            </a:r>
          </a:p>
        </p:txBody>
      </p:sp>
      <p:sp>
        <p:nvSpPr>
          <p:cNvPr id="4" name="Подзаголовок"/>
          <p:cNvSpPr txBox="1"/>
          <p:nvPr/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 lang="ru-RU">
                <a:solidFill>
                  <a:srgbClr val="5A615B"/>
                </a:solidFill>
                <a:latin typeface="Calibri"/>
              </a:rPr>
              <a:t>Кейс: урожайность в т/га и общий объём по культурам и польза для планирования затрат и доходов</a:t>
            </a:r>
          </a:p>
        </p:txBody>
      </p:sp>
      <p:sp>
        <p:nvSpPr>
          <p:cNvPr id="5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6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044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59" y="2103120"/>
            <a:ext cx="566928" cy="566928"/>
          </a:xfrm>
          <a:prstGeom prst="ellipse">
            <a:avLst/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 lang="ru-RU">
                <a:solidFill>
                  <a:srgbClr val="1F4D3A"/>
                </a:solidFill>
                <a:latin typeface="Calibri"/>
              </a:rPr>
              <a:t>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0312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 lang="ru-RU">
                <a:solidFill>
                  <a:srgbClr val="1E2420"/>
                </a:solidFill>
                <a:latin typeface="Calibri"/>
              </a:rPr>
              <a:t>Фермеру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26080"/>
            <a:ext cx="2971800" cy="2240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5A615B"/>
                </a:solidFill>
                <a:latin typeface="Calibri"/>
              </a:rPr>
              <a:t>Что сеять: прогноз по культурам с 1 мая, а не после уборки</a:t>
            </a:r>
          </a:p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5A615B"/>
                </a:solidFill>
                <a:latin typeface="Calibri"/>
              </a:rPr>
              <a:t>Сколько вложить: семена, удобрения, кредит под ожидаемый урожай</a:t>
            </a:r>
          </a:p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5A615B"/>
                </a:solidFill>
                <a:latin typeface="Calibri"/>
              </a:rPr>
              <a:t>Что продавать вперёд: объём и диапазон «плохой — обычный — хороший год»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5" y="1828800"/>
            <a:ext cx="3520440" cy="34290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08575" y="2103120"/>
            <a:ext cx="566928" cy="566928"/>
          </a:xfrm>
          <a:prstGeom prst="ellipse">
            <a:avLst/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 lang="ru-RU">
                <a:solidFill>
                  <a:srgbClr val="1F4D3A"/>
                </a:solidFill>
                <a:latin typeface="Calibri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210312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 lang="ru-RU">
                <a:solidFill>
                  <a:srgbClr val="1E2420"/>
                </a:solidFill>
                <a:latin typeface="Calibri"/>
              </a:rPr>
              <a:t>Банку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5" y="2926080"/>
            <a:ext cx="2971800" cy="2240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5A615B"/>
                </a:solidFill>
                <a:latin typeface="Calibri"/>
              </a:rPr>
              <a:t>Риск кредитов по регионам и культурам виден до уборки</a:t>
            </a:r>
          </a:p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5A615B"/>
                </a:solidFill>
                <a:latin typeface="Calibri"/>
              </a:rPr>
              <a:t>График платежей под реальный, а не средний урожай</a:t>
            </a:r>
          </a:p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5A615B"/>
                </a:solidFill>
                <a:latin typeface="Calibri"/>
              </a:rPr>
              <a:t>Ранний сигнал: проблемный сезон заметен уже летом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1" y="1828800"/>
            <a:ext cx="3520440" cy="3429000"/>
          </a:xfrm>
          <a:prstGeom prst="roundRect">
            <a:avLst>
              <a:gd name="adj" fmla="val 3733"/>
            </a:avLst>
          </a:prstGeom>
          <a:solidFill>
            <a:srgbClr val="1F4D3A"/>
          </a:solidFill>
          <a:ln>
            <a:noFill/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8394192" y="2103120"/>
            <a:ext cx="566928" cy="566928"/>
          </a:xfrm>
          <a:prstGeom prst="ellipse">
            <a:avLst/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 lang="ru-RU">
                <a:solidFill>
                  <a:srgbClr val="143629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1" y="2103120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 lang="ru-RU">
                <a:solidFill>
                  <a:srgbClr val="FFFFFF"/>
                </a:solidFill>
                <a:latin typeface="Calibri"/>
              </a:rPr>
              <a:t>Наш ответ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926080"/>
            <a:ext cx="2971800" cy="2240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E8F0EA"/>
                </a:solidFill>
                <a:latin typeface="Calibri"/>
              </a:rPr>
              <a:t>Прогноз на 5 дат сезона с честным интервалом</a:t>
            </a:r>
          </a:p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E8F0EA"/>
                </a:solidFill>
                <a:latin typeface="Calibri"/>
              </a:rPr>
              <a:t>Оптимизация: что изменить в плане, чтобы заработать больше при том же риске</a:t>
            </a:r>
          </a:p>
          <a:p>
            <a:pPr algn="l">
              <a:spcAft>
                <a:spcPts val="900"/>
              </a:spcAft>
            </a:pPr>
            <a:r>
              <a:rPr sz="1500" b="0" i="0" lang="ru-RU">
                <a:solidFill>
                  <a:srgbClr val="E8F0EA"/>
                </a:solidFill>
                <a:latin typeface="Calibri"/>
              </a:rPr>
              <a:t>Сайт с калькулятором хозяйства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16470"/>
            </a:avLst>
          </a:prstGeom>
          <a:solidFill>
            <a:srgbClr val="F8E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10454335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1" i="0" lang="ru-RU">
                <a:solidFill>
                  <a:srgbClr val="C8962E"/>
                </a:solidFill>
                <a:latin typeface="Calibri"/>
              </a:rPr>
              <a:t>Главная идея: </a:t>
            </a:r>
            <a:r>
              <a:rPr sz="1800" b="0" i="0" lang="ru-RU">
                <a:solidFill>
                  <a:srgbClr val="1E2420"/>
                </a:solidFill>
                <a:latin typeface="Calibri"/>
              </a:rPr>
              <a:t>не «модель предсказала N т/га», а рекомендация — изменить план немного и получить заметный эффект.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Исследование на большом массиве данных, а не формула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МАСШТАБ РАБОТЫ</a:t>
            </a:r>
          </a:p>
        </p:txBody>
      </p:sp>
      <p:sp>
        <p:nvSpPr>
          <p:cNvPr id="4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645919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5000" b="1" i="0" lang="ru-RU">
                <a:solidFill>
                  <a:srgbClr val="1F4D3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 lang="ru-RU">
                <a:solidFill>
                  <a:srgbClr val="1E2420"/>
                </a:solidFill>
                <a:latin typeface="Calibri"/>
              </a:rPr>
              <a:t>источников открытых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6207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ЕМИСС (74 показателя), ERA5, NASA POWER, SoilGrids, MODIS, GGCMI, FAOSTAT, USDA…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50876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5" y="1645919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5000" b="1" i="0" lang="ru-RU">
                <a:solidFill>
                  <a:srgbClr val="1F4D3A"/>
                </a:solidFill>
                <a:latin typeface="Calibri"/>
              </a:rPr>
              <a:t>11,3 ГБ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5" y="251460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 lang="ru-RU">
                <a:solidFill>
                  <a:srgbClr val="1E2420"/>
                </a:solidFill>
                <a:latin typeface="Calibri"/>
              </a:rPr>
              <a:t>сырых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286207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55,7 тыс. файлов, 21 млн строк наблюдений; со всеми слоями — 12,0 ГБ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150876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4192" y="1645919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5000" b="1" i="0" lang="ru-RU">
                <a:solidFill>
                  <a:srgbClr val="1F4D3A"/>
                </a:solidFill>
                <a:latin typeface="Calibri"/>
              </a:rPr>
              <a:t>683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51460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 lang="ru-RU">
                <a:solidFill>
                  <a:srgbClr val="1E2420"/>
                </a:solidFill>
                <a:latin typeface="Calibri"/>
              </a:rPr>
              <a:t>столбца в таблице признаков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86207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81 тыс. строк «субъект × культура × год»: погода, окна культур, почвы, спутник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1F4D3A"/>
          </a:solidFill>
          <a:ln>
            <a:noFill/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59" y="402336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5000" b="1" i="0" lang="ru-RU">
                <a:solidFill>
                  <a:srgbClr val="E2B04A"/>
                </a:solidFill>
                <a:latin typeface="Calibri"/>
              </a:rPr>
              <a:t>4 069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89204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 lang="ru-RU">
                <a:solidFill>
                  <a:srgbClr val="FFFFFF"/>
                </a:solidFill>
                <a:latin typeface="Calibri"/>
              </a:rPr>
              <a:t>конфигураций моделей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2395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C9DACE"/>
                </a:solidFill>
                <a:latin typeface="Calibri"/>
              </a:rPr>
              <a:t>на одной проверке 2012–2025; 10,2 тыс. попыток Optuna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4255" y="388620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08575" y="402336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5000" b="1" i="0" lang="ru-RU">
                <a:solidFill>
                  <a:srgbClr val="1F4D3A"/>
                </a:solidFill>
                <a:latin typeface="Calibri"/>
              </a:rPr>
              <a:t>89 ×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5" y="489204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 lang="ru-RU">
                <a:solidFill>
                  <a:srgbClr val="1E2420"/>
                </a:solidFill>
                <a:latin typeface="Calibri"/>
              </a:rPr>
              <a:t>субъектов РФ × культур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5" y="52395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2000–2026, 450 точек пашни для погоды и почв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1" y="3886200"/>
            <a:ext cx="3520440" cy="2103120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94192" y="4023360"/>
            <a:ext cx="297180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5000" b="1" i="0" lang="ru-RU">
                <a:solidFill>
                  <a:srgbClr val="1F4D3A"/>
                </a:solidFill>
                <a:latin typeface="Calibri"/>
              </a:rPr>
              <a:t>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89204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 lang="ru-RU">
                <a:solidFill>
                  <a:srgbClr val="1E2420"/>
                </a:solidFill>
                <a:latin typeface="Calibri"/>
              </a:rPr>
              <a:t>автоматических тестов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52395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чистота данных, защита от утечек, проверка оптимизатора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Четыре слоя данных от сырья до сайта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КОНВЕЙЕР ДАННЫХ</a:t>
            </a:r>
          </a:p>
        </p:txBody>
      </p:sp>
      <p:sp>
        <p:nvSpPr>
          <p:cNvPr id="4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704088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ЕМИСС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7726" y="1508760"/>
            <a:ext cx="629107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ERA5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1832" y="1508760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NASA 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5822" y="1508760"/>
            <a:ext cx="1004011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SoilGrids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4832" y="1508760"/>
            <a:ext cx="704088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MODIS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93918" y="1508760"/>
            <a:ext cx="704088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GGCMI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3005" y="1508760"/>
            <a:ext cx="854049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FAOSTAT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02053" y="1508760"/>
            <a:ext cx="929030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USDA PSD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082" y="1508760"/>
            <a:ext cx="1528876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Госреестр сортов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09957" y="1508760"/>
            <a:ext cx="854049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Росстат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005" y="1508760"/>
            <a:ext cx="854049" cy="329184"/>
          </a:xfrm>
          <a:prstGeom prst="roundRect">
            <a:avLst>
              <a:gd name="adj" fmla="val 50000"/>
            </a:avLst>
          </a:prstGeom>
          <a:solidFill>
            <a:srgbClr val="E3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 i="0" lang="ru-RU">
                <a:solidFill>
                  <a:srgbClr val="1F4D3A"/>
                </a:solidFill>
                <a:latin typeface="Calibri"/>
              </a:rPr>
              <a:t>и ещё 4</a:t>
            </a:r>
          </a:p>
        </p:txBody>
      </p:sp>
      <p:sp>
        <p:nvSpPr>
          <p:cNvPr id="17" name="Pentagon 16"/>
          <p:cNvSpPr/>
          <p:nvPr/>
        </p:nvSpPr>
        <p:spPr>
          <a:xfrm>
            <a:off x="548640" y="2148840"/>
            <a:ext cx="1922221" cy="731520"/>
          </a:xfrm>
          <a:prstGeom prst="homePlate">
            <a:avLst/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 lang="ru-RU">
                <a:solidFill>
                  <a:srgbClr val="143629"/>
                </a:solidFill>
                <a:latin typeface="Calibri"/>
              </a:rPr>
              <a:t>raw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08960"/>
            <a:ext cx="1757629" cy="2834640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00400"/>
            <a:ext cx="1483309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800" b="1" i="0" lang="ru-RU">
                <a:solidFill>
                  <a:srgbClr val="1F4D3A"/>
                </a:solidFill>
                <a:latin typeface="Calibr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822191"/>
            <a:ext cx="148330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1E2420"/>
                </a:solidFill>
                <a:latin typeface="Calibri"/>
              </a:rPr>
              <a:t>источников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51960"/>
            <a:ext cx="148330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 lang="ru-RU">
                <a:solidFill>
                  <a:srgbClr val="2E6B4F"/>
                </a:solidFill>
                <a:latin typeface="Calibri"/>
              </a:rPr>
              <a:t>55,7 тыс. файлов · 11,3 ГБ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029200"/>
            <a:ext cx="1483309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как скачано, с докачкой и логами</a:t>
            </a:r>
          </a:p>
        </p:txBody>
      </p:sp>
      <p:sp>
        <p:nvSpPr>
          <p:cNvPr id="23" name="Chevron 22"/>
          <p:cNvSpPr/>
          <p:nvPr/>
        </p:nvSpPr>
        <p:spPr>
          <a:xfrm>
            <a:off x="2415997" y="2148840"/>
            <a:ext cx="1922221" cy="731520"/>
          </a:xfrm>
          <a:prstGeom prst="chevron">
            <a:avLst/>
          </a:prstGeom>
          <a:solidFill>
            <a:srgbClr val="7FA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 lang="ru-RU">
                <a:solidFill>
                  <a:srgbClr val="FFFFFF"/>
                </a:solidFill>
                <a:latin typeface="Calibri"/>
              </a:rPr>
              <a:t>interim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15997" y="3108960"/>
            <a:ext cx="1757629" cy="2834640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580589" y="3200400"/>
            <a:ext cx="1483309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800" b="1" i="0" lang="ru-RU">
                <a:solidFill>
                  <a:srgbClr val="1F4D3A"/>
                </a:solidFill>
                <a:latin typeface="Calibri"/>
              </a:rPr>
              <a:t>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0589" y="3822191"/>
            <a:ext cx="148330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1E2420"/>
                </a:solidFill>
                <a:latin typeface="Calibri"/>
              </a:rPr>
              <a:t>файлов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0589" y="4251960"/>
            <a:ext cx="148330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 lang="ru-RU">
                <a:solidFill>
                  <a:srgbClr val="2E6B4F"/>
                </a:solidFill>
                <a:latin typeface="Calibri"/>
              </a:rPr>
              <a:t>9,9 млн строк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0589" y="5029200"/>
            <a:ext cx="1483309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сырой разбор без чистки: SDMX → таблицы</a:t>
            </a:r>
          </a:p>
        </p:txBody>
      </p:sp>
      <p:sp>
        <p:nvSpPr>
          <p:cNvPr id="29" name="Chevron 28"/>
          <p:cNvSpPr/>
          <p:nvPr/>
        </p:nvSpPr>
        <p:spPr>
          <a:xfrm>
            <a:off x="4283354" y="2148840"/>
            <a:ext cx="1922221" cy="731520"/>
          </a:xfrm>
          <a:prstGeom prst="chevron">
            <a:avLst/>
          </a:prstGeom>
          <a:solidFill>
            <a:srgbClr val="4F8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 lang="ru-RU">
                <a:solidFill>
                  <a:srgbClr val="FFFFFF"/>
                </a:solidFill>
                <a:latin typeface="Calibri"/>
              </a:rPr>
              <a:t>processed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3354" y="3108960"/>
            <a:ext cx="1757629" cy="2834640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447946" y="3200400"/>
            <a:ext cx="1483309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800" b="1" i="0" lang="ru-RU">
                <a:solidFill>
                  <a:srgbClr val="1F4D3A"/>
                </a:solidFill>
                <a:latin typeface="Calibri"/>
              </a:rPr>
              <a:t>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7946" y="3822191"/>
            <a:ext cx="148330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1E2420"/>
                </a:solidFill>
                <a:latin typeface="Calibri"/>
              </a:rPr>
              <a:t>таблиц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7946" y="4251960"/>
            <a:ext cx="148330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 lang="ru-RU">
                <a:solidFill>
                  <a:srgbClr val="2E6B4F"/>
                </a:solidFill>
                <a:latin typeface="Calibri"/>
              </a:rPr>
              <a:t>8,4 млн строк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7946" y="5029200"/>
            <a:ext cx="1483309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суточная погода, признаки, первые модели</a:t>
            </a:r>
          </a:p>
        </p:txBody>
      </p:sp>
      <p:sp>
        <p:nvSpPr>
          <p:cNvPr id="35" name="Chevron 34"/>
          <p:cNvSpPr/>
          <p:nvPr/>
        </p:nvSpPr>
        <p:spPr>
          <a:xfrm>
            <a:off x="6150711" y="2148840"/>
            <a:ext cx="1922221" cy="731520"/>
          </a:xfrm>
          <a:prstGeom prst="chevron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 lang="ru-RU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0711" y="3108960"/>
            <a:ext cx="1757629" cy="2834640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15303" y="3200400"/>
            <a:ext cx="1483309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800" b="1" i="0" lang="ru-RU">
                <a:solidFill>
                  <a:srgbClr val="1F4D3A"/>
                </a:solidFill>
                <a:latin typeface="Calibri"/>
              </a:rPr>
              <a:t>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303" y="3822191"/>
            <a:ext cx="148330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1E2420"/>
                </a:solidFill>
                <a:latin typeface="Calibri"/>
              </a:rPr>
              <a:t>таблиц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303" y="4251960"/>
            <a:ext cx="148330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 lang="ru-RU">
                <a:solidFill>
                  <a:srgbClr val="2E6B4F"/>
                </a:solidFill>
                <a:latin typeface="Calibri"/>
              </a:rPr>
              <a:t>60 тестов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5303" y="5029200"/>
            <a:ext cx="1483309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правила чистки; строки не удаляются, а помечаются флагами</a:t>
            </a:r>
          </a:p>
        </p:txBody>
      </p:sp>
      <p:sp>
        <p:nvSpPr>
          <p:cNvPr id="41" name="Chevron 40"/>
          <p:cNvSpPr/>
          <p:nvPr/>
        </p:nvSpPr>
        <p:spPr>
          <a:xfrm>
            <a:off x="8018068" y="2148840"/>
            <a:ext cx="1922221" cy="731520"/>
          </a:xfrm>
          <a:prstGeom prst="chevron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 lang="ru-RU">
                <a:solidFill>
                  <a:srgbClr val="FFFFFF"/>
                </a:solidFill>
                <a:latin typeface="Calibri"/>
              </a:rPr>
              <a:t>модель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8068" y="3108960"/>
            <a:ext cx="1757629" cy="2834640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82660" y="3200400"/>
            <a:ext cx="1483309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800" b="1" i="0" lang="ru-RU">
                <a:solidFill>
                  <a:srgbClr val="1F4D3A"/>
                </a:solidFill>
                <a:latin typeface="Calibri"/>
              </a:rPr>
              <a:t>683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2660" y="3822191"/>
            <a:ext cx="148330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1E2420"/>
                </a:solidFill>
                <a:latin typeface="Calibri"/>
              </a:rPr>
              <a:t>признаков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2660" y="4251960"/>
            <a:ext cx="148330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 lang="ru-RU">
                <a:solidFill>
                  <a:srgbClr val="2E6B4F"/>
                </a:solidFill>
                <a:latin typeface="Calibri"/>
              </a:rPr>
              <a:t>4 069 конфигураций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2660" y="5029200"/>
            <a:ext cx="1483309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5 дат × 7 культур, проверка по времени</a:t>
            </a:r>
          </a:p>
        </p:txBody>
      </p:sp>
      <p:sp>
        <p:nvSpPr>
          <p:cNvPr id="47" name="Pentagon 46"/>
          <p:cNvSpPr/>
          <p:nvPr/>
        </p:nvSpPr>
        <p:spPr>
          <a:xfrm>
            <a:off x="9885426" y="2148840"/>
            <a:ext cx="1757629" cy="731520"/>
          </a:xfrm>
          <a:prstGeom prst="homePlate">
            <a:avLst/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 i="0" lang="ru-RU">
                <a:solidFill>
                  <a:srgbClr val="143629"/>
                </a:solidFill>
                <a:latin typeface="Calibri"/>
              </a:rPr>
              <a:t>сайт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85426" y="3108960"/>
            <a:ext cx="1757629" cy="2834640"/>
          </a:xfrm>
          <a:prstGeom prst="roundRect">
            <a:avLst>
              <a:gd name="adj" fmla="val 7283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050018" y="3200400"/>
            <a:ext cx="1483309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800" b="1" i="0" lang="ru-RU">
                <a:solidFill>
                  <a:srgbClr val="1F4D3A"/>
                </a:solidFill>
                <a:latin typeface="Calibr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0018" y="3822191"/>
            <a:ext cx="148330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1E2420"/>
                </a:solidFill>
                <a:latin typeface="Calibri"/>
              </a:rPr>
              <a:t>экрана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0018" y="4251960"/>
            <a:ext cx="1483309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 lang="ru-RU">
                <a:solidFill>
                  <a:srgbClr val="2E6B4F"/>
                </a:solidFill>
                <a:latin typeface="Calibri"/>
              </a:rPr>
              <a:t>карта · регион · калькулятор · оптимизация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0018" y="5029200"/>
            <a:ext cx="1483309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статический, работает без сервера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Честная проверка: модель видит только прошлое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МЕТОДИКА</a:t>
            </a:r>
          </a:p>
        </p:txBody>
      </p:sp>
      <p:sp>
        <p:nvSpPr>
          <p:cNvPr id="4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30936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62763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1 · МОДЕЛЬ «ТРЕНД × ПОГОДА»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011680"/>
            <a:ext cx="2148840" cy="640080"/>
          </a:xfrm>
          <a:prstGeom prst="roundRect">
            <a:avLst>
              <a:gd name="adj" fmla="val 17142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 lang="ru-RU">
                <a:solidFill>
                  <a:srgbClr val="FFFFFF"/>
                </a:solidFill>
                <a:latin typeface="Calibri"/>
              </a:rPr>
              <a:t>тренд по годам &lt;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3657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000" b="1" i="0" lang="ru-RU">
                <a:solidFill>
                  <a:srgbClr val="5A615B"/>
                </a:solidFill>
                <a:latin typeface="Calibri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3154680" cy="640080"/>
          </a:xfrm>
          <a:prstGeom prst="roundRect">
            <a:avLst>
              <a:gd name="adj" fmla="val 17142"/>
            </a:avLst>
          </a:prstGeom>
          <a:solidFill>
            <a:srgbClr val="F8E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 lang="ru-RU">
                <a:solidFill>
                  <a:srgbClr val="1E2420"/>
                </a:solidFill>
                <a:latin typeface="Calibri"/>
              </a:rPr>
              <a:t>1 + </a:t>
            </a:r>
            <a:r>
              <a:rPr sz="1500" b="0" i="0" lang="ru-RU">
                <a:solidFill>
                  <a:srgbClr val="1E2420"/>
                </a:solidFill>
                <a:latin typeface="Calibri"/>
              </a:rPr>
              <a:t>эффект погоды, спутника, почвы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630936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3136391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2 · ПЯТЬ ДАТ ПРОГНОЗА: БУДУЩЕЕ ЗАМАСКИРОВАНО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сен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4852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окт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ноя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4076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дек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янв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300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фев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7912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мар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2524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апр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май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1748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июн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июл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0972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авг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5583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сен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0196" y="3493008"/>
            <a:ext cx="2834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 lang="ru-RU">
                <a:solidFill>
                  <a:srgbClr val="8C918A"/>
                </a:solidFill>
                <a:latin typeface="Calibri"/>
              </a:rPr>
              <a:t>окт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749039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 lang="ru-RU">
                <a:solidFill>
                  <a:srgbClr val="1E2420"/>
                </a:solidFill>
                <a:latin typeface="Calibri"/>
              </a:rPr>
              <a:t>1 мая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2244852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569464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894076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218688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543300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867912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192524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517136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841748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166360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490972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815583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140196" y="3749039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59" y="4087368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 lang="ru-RU">
                <a:solidFill>
                  <a:srgbClr val="1E2420"/>
                </a:solidFill>
                <a:latin typeface="Calibri"/>
              </a:rPr>
              <a:t>1 июня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20240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2244852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2569464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894076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218688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3543300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3867912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4192524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517136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4841748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5166360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5490972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5815583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6140196" y="4087368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2959" y="4425696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 lang="ru-RU">
                <a:solidFill>
                  <a:srgbClr val="1E2420"/>
                </a:solidFill>
                <a:latin typeface="Calibri"/>
              </a:rPr>
              <a:t>1 июля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920240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2244852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2569464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2894076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3218688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3543300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3867912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ounded Rectangle 64"/>
          <p:cNvSpPr/>
          <p:nvPr/>
        </p:nvSpPr>
        <p:spPr>
          <a:xfrm>
            <a:off x="4192524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4517136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4841748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5166360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5490972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5815583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6140196" y="4425696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22959" y="4764023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 lang="ru-RU">
                <a:solidFill>
                  <a:srgbClr val="1E2420"/>
                </a:solidFill>
                <a:latin typeface="Calibri"/>
              </a:rPr>
              <a:t>1 авг.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920240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2244852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2569464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2894076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3218688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3543300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3867912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4192524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ounded Rectangle 80"/>
          <p:cNvSpPr/>
          <p:nvPr/>
        </p:nvSpPr>
        <p:spPr>
          <a:xfrm>
            <a:off x="4517136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4841748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5166360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5490972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5815583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6140196" y="4764023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EC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822959" y="5102352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 lang="ru-RU">
                <a:solidFill>
                  <a:srgbClr val="1E2420"/>
                </a:solidFill>
                <a:latin typeface="Calibri"/>
              </a:rPr>
              <a:t>Конец сезона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920240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ounded Rectangle 88"/>
          <p:cNvSpPr/>
          <p:nvPr/>
        </p:nvSpPr>
        <p:spPr>
          <a:xfrm>
            <a:off x="2244852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2569464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2894076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3218688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3543300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3867912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4192524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ounded Rectangle 95"/>
          <p:cNvSpPr/>
          <p:nvPr/>
        </p:nvSpPr>
        <p:spPr>
          <a:xfrm>
            <a:off x="4517136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ounded Rectangle 96"/>
          <p:cNvSpPr/>
          <p:nvPr/>
        </p:nvSpPr>
        <p:spPr>
          <a:xfrm>
            <a:off x="4841748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5166360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ounded Rectangle 98"/>
          <p:cNvSpPr/>
          <p:nvPr/>
        </p:nvSpPr>
        <p:spPr>
          <a:xfrm>
            <a:off x="5490972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ounded Rectangle 99"/>
          <p:cNvSpPr/>
          <p:nvPr/>
        </p:nvSpPr>
        <p:spPr>
          <a:xfrm>
            <a:off x="5815583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ounded Rectangle 100"/>
          <p:cNvSpPr/>
          <p:nvPr/>
        </p:nvSpPr>
        <p:spPr>
          <a:xfrm>
            <a:off x="6140196" y="5102352"/>
            <a:ext cx="283464" cy="292608"/>
          </a:xfrm>
          <a:prstGeom prst="roundRect">
            <a:avLst>
              <a:gd name="adj" fmla="val 16129"/>
            </a:avLst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22959" y="550468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2E6B4F"/>
                </a:solidFill>
                <a:latin typeface="Calibri"/>
              </a:rPr>
              <a:t>■ </a:t>
            </a:r>
            <a:r>
              <a:rPr sz="1200" b="0" i="0" lang="ru-RU">
                <a:solidFill>
                  <a:srgbClr val="5A615B"/>
                </a:solidFill>
                <a:latin typeface="Calibri"/>
              </a:rPr>
              <a:t>известно на дату   </a:t>
            </a:r>
            <a:r>
              <a:rPr sz="1200" b="0" i="0" lang="ru-RU">
                <a:solidFill>
                  <a:srgbClr val="D8D2C2"/>
                </a:solidFill>
                <a:latin typeface="Calibri"/>
              </a:rPr>
              <a:t>■ </a:t>
            </a:r>
            <a:r>
              <a:rPr sz="1200" b="0" i="0" lang="ru-RU">
                <a:solidFill>
                  <a:srgbClr val="5A615B"/>
                </a:solidFill>
                <a:latin typeface="Calibri"/>
              </a:rPr>
              <a:t>скрыто: в прогноз не попадает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132320" y="1508760"/>
            <a:ext cx="4510735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406640" y="1627632"/>
            <a:ext cx="3962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3 · СКОЛЬЗЯЩАЯ ПРОВЕРКА 2012–2025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06640" y="2084831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2012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001000" y="2139696"/>
            <a:ext cx="1505805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ounded Rectangle 106"/>
          <p:cNvSpPr/>
          <p:nvPr/>
        </p:nvSpPr>
        <p:spPr>
          <a:xfrm>
            <a:off x="9534237" y="2121408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7406640" y="2327148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2013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001000" y="2382012"/>
            <a:ext cx="1633575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ounded Rectangle 109"/>
          <p:cNvSpPr/>
          <p:nvPr/>
        </p:nvSpPr>
        <p:spPr>
          <a:xfrm>
            <a:off x="9662007" y="2363724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7406640" y="2569464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2014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001000" y="2624328"/>
            <a:ext cx="1761345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ounded Rectangle 112"/>
          <p:cNvSpPr/>
          <p:nvPr/>
        </p:nvSpPr>
        <p:spPr>
          <a:xfrm>
            <a:off x="9789777" y="2606040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7406640" y="2811779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2015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001000" y="2866644"/>
            <a:ext cx="1889115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ounded Rectangle 115"/>
          <p:cNvSpPr/>
          <p:nvPr/>
        </p:nvSpPr>
        <p:spPr>
          <a:xfrm>
            <a:off x="9917547" y="2848356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7406640" y="3054096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2016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01000" y="3108960"/>
            <a:ext cx="2016885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10045317" y="3090672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7406640" y="3296412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2017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001000" y="3351276"/>
            <a:ext cx="2144654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ounded Rectangle 121"/>
          <p:cNvSpPr/>
          <p:nvPr/>
        </p:nvSpPr>
        <p:spPr>
          <a:xfrm>
            <a:off x="10173086" y="3332988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406640" y="3538727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2018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001000" y="3593591"/>
            <a:ext cx="2272424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ounded Rectangle 124"/>
          <p:cNvSpPr/>
          <p:nvPr/>
        </p:nvSpPr>
        <p:spPr>
          <a:xfrm>
            <a:off x="10300856" y="3575303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7406640" y="3781044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2019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001000" y="3835907"/>
            <a:ext cx="2400194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ounded Rectangle 127"/>
          <p:cNvSpPr/>
          <p:nvPr/>
        </p:nvSpPr>
        <p:spPr>
          <a:xfrm>
            <a:off x="10428626" y="3817619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7406640" y="4023360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2020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001000" y="4078224"/>
            <a:ext cx="2527964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ounded Rectangle 130"/>
          <p:cNvSpPr/>
          <p:nvPr/>
        </p:nvSpPr>
        <p:spPr>
          <a:xfrm>
            <a:off x="10556396" y="4059935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7406640" y="4265676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2021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01000" y="4320540"/>
            <a:ext cx="2655734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ounded Rectangle 133"/>
          <p:cNvSpPr/>
          <p:nvPr/>
        </p:nvSpPr>
        <p:spPr>
          <a:xfrm>
            <a:off x="10684166" y="4302252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7406640" y="4507992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2022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001000" y="4562856"/>
            <a:ext cx="2783503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ounded Rectangle 136"/>
          <p:cNvSpPr/>
          <p:nvPr/>
        </p:nvSpPr>
        <p:spPr>
          <a:xfrm>
            <a:off x="10811935" y="4544568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7406640" y="4750308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2023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001000" y="4805172"/>
            <a:ext cx="2911273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ounded Rectangle 139"/>
          <p:cNvSpPr/>
          <p:nvPr/>
        </p:nvSpPr>
        <p:spPr>
          <a:xfrm>
            <a:off x="10939705" y="4786883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7406640" y="4992624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2024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8001000" y="5047488"/>
            <a:ext cx="3039043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ounded Rectangle 142"/>
          <p:cNvSpPr/>
          <p:nvPr/>
        </p:nvSpPr>
        <p:spPr>
          <a:xfrm>
            <a:off x="11067475" y="5029200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7406640" y="5234940"/>
            <a:ext cx="548640" cy="2423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 lang="ru-RU">
                <a:solidFill>
                  <a:srgbClr val="5A615B"/>
                </a:solidFill>
                <a:latin typeface="Calibri"/>
              </a:rPr>
              <a:t>2025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001000" y="5289804"/>
            <a:ext cx="3166813" cy="150876"/>
          </a:xfrm>
          <a:prstGeom prst="roundRect">
            <a:avLst>
              <a:gd name="adj" fmla="val 24242"/>
            </a:avLst>
          </a:prstGeom>
          <a:solidFill>
            <a:srgbClr val="A9C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ounded Rectangle 145"/>
          <p:cNvSpPr/>
          <p:nvPr/>
        </p:nvSpPr>
        <p:spPr>
          <a:xfrm>
            <a:off x="11195245" y="5271516"/>
            <a:ext cx="127769" cy="187452"/>
          </a:xfrm>
          <a:prstGeom prst="roundRect">
            <a:avLst>
              <a:gd name="adj" fmla="val 28626"/>
            </a:avLst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7406640" y="5586983"/>
            <a:ext cx="396209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A9C6B3"/>
                </a:solidFill>
                <a:latin typeface="Calibri"/>
              </a:rPr>
              <a:t>■ </a:t>
            </a:r>
            <a:r>
              <a:rPr sz="1200" b="0" i="0" lang="ru-RU">
                <a:solidFill>
                  <a:srgbClr val="5A615B"/>
                </a:solidFill>
                <a:latin typeface="Calibri"/>
              </a:rPr>
              <a:t>обучение: только годы до T   </a:t>
            </a:r>
            <a:r>
              <a:rPr sz="1200" b="0" i="0" lang="ru-RU">
                <a:solidFill>
                  <a:srgbClr val="E2B04A"/>
                </a:solidFill>
                <a:latin typeface="Calibri"/>
              </a:rPr>
              <a:t>■ </a:t>
            </a:r>
            <a:r>
              <a:rPr sz="1200" b="0" i="0" lang="ru-RU">
                <a:solidFill>
                  <a:srgbClr val="5A615B"/>
                </a:solidFill>
                <a:latin typeface="Calibri"/>
              </a:rPr>
              <a:t>прогноз года 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Тренды и нормы — только по годам &lt; t · гиперпараметры подобраны по 2012–2018, годы 2019–2025 отложены · случайного разбиения нет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Лесенка моделей: ошибка снижена на 30 %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ГЛАВНЫЙ РЕЗУЛЬТАТ</a:t>
            </a:r>
          </a:p>
        </p:txBody>
      </p:sp>
      <p:sp>
        <p:nvSpPr>
          <p:cNvPr id="4" name="Подзаголовок"/>
          <p:cNvSpPr txBox="1"/>
          <p:nvPr/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 lang="ru-RU">
                <a:solidFill>
                  <a:srgbClr val="5A615B"/>
                </a:solidFill>
                <a:latin typeface="Calibri"/>
              </a:rPr>
              <a:t>Пять ступеней на одной проверке 2012–2025: средняя ошибка прогноза урожайности, % от факта (MAPE)</a:t>
            </a:r>
          </a:p>
        </p:txBody>
      </p:sp>
      <p:sp>
        <p:nvSpPr>
          <p:cNvPr id="5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6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7" name="Лесенка моделей" descr="Диаграмма: Лесенка моделей"/>
          <p:cNvGraphicFramePr>
            <a:graphicFrameLocks noGrp="1"/>
          </p:cNvGraphicFramePr>
          <p:nvPr/>
        </p:nvGraphicFramePr>
        <p:xfrm>
          <a:off x="548640" y="1783080"/>
          <a:ext cx="74066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1783080"/>
            <a:ext cx="3413455" cy="2011680"/>
          </a:xfrm>
          <a:prstGeom prst="roundRect">
            <a:avLst>
              <a:gd name="adj" fmla="val 6363"/>
            </a:avLst>
          </a:prstGeom>
          <a:solidFill>
            <a:srgbClr val="1F4D3A"/>
          </a:solidFill>
          <a:ln>
            <a:noFill/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0" y="1874519"/>
            <a:ext cx="286481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6000" b="1" i="0" lang="ru-RU">
                <a:solidFill>
                  <a:srgbClr val="E2B04A"/>
                </a:solidFill>
                <a:latin typeface="Calibri"/>
              </a:rPr>
              <a:t>−30 %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834640"/>
            <a:ext cx="2864815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 lang="ru-RU">
                <a:solidFill>
                  <a:srgbClr val="E8F0EA"/>
                </a:solidFill>
                <a:latin typeface="Calibri"/>
              </a:rPr>
              <a:t>ошибки (MAE и MAPE) к прогнозу «как в прошлом году», среднее по 7 культурам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977639"/>
            <a:ext cx="3413455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03920" y="4096512"/>
            <a:ext cx="2864815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700"/>
              </a:spcAft>
            </a:pPr>
            <a:r>
              <a:rPr sz="1400" b="1" i="0" lang="ru-RU">
                <a:solidFill>
                  <a:srgbClr val="1F4D3A"/>
                </a:solidFill>
                <a:latin typeface="Calibri"/>
              </a:rPr>
              <a:t>Погода даёт основное: </a:t>
            </a:r>
            <a:r>
              <a:rPr sz="1400" b="0" i="0" lang="ru-RU">
                <a:solidFill>
                  <a:srgbClr val="5A615B"/>
                </a:solidFill>
                <a:latin typeface="Calibri"/>
              </a:rPr>
              <a:t>−25 % уже у линейной модели.</a:t>
            </a:r>
          </a:p>
          <a:p>
            <a:pPr algn="l">
              <a:spcAft>
                <a:spcPts val="700"/>
              </a:spcAft>
            </a:pPr>
            <a:r>
              <a:rPr sz="1400" b="1" i="0" lang="ru-RU">
                <a:solidFill>
                  <a:srgbClr val="1F4D3A"/>
                </a:solidFill>
                <a:latin typeface="Calibri"/>
              </a:rPr>
              <a:t>Бустинг «из коробки» со спутником </a:t>
            </a:r>
            <a:r>
              <a:rPr sz="1400" b="0" i="0" lang="ru-RU">
                <a:solidFill>
                  <a:srgbClr val="5A615B"/>
                </a:solidFill>
                <a:latin typeface="Calibri"/>
              </a:rPr>
              <a:t>не лучше (−25 %): выигрыш — от перебора и ансамбля.</a:t>
            </a:r>
          </a:p>
          <a:p>
            <a:pPr algn="l">
              <a:spcAft>
                <a:spcPts val="700"/>
              </a:spcAft>
            </a:pPr>
            <a:r>
              <a:rPr sz="1400" b="1" i="0" lang="ru-RU">
                <a:solidFill>
                  <a:srgbClr val="1F4D3A"/>
                </a:solidFill>
                <a:latin typeface="Calibri"/>
              </a:rPr>
              <a:t>Отложенные 2019–2025: </a:t>
            </a:r>
            <a:r>
              <a:rPr sz="1400" b="0" i="0" lang="ru-RU">
                <a:solidFill>
                  <a:srgbClr val="5A615B"/>
                </a:solidFill>
                <a:latin typeface="Calibri"/>
              </a:rPr>
              <a:t>−30 %, подгонки нет.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Ошибка падает уже с 1 мая: −19 %, к концу сезона −30 %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КАЧЕСТВО ПО ДАТАМ И КУЛЬТУРАМ</a:t>
            </a:r>
          </a:p>
        </p:txBody>
      </p:sp>
      <p:sp>
        <p:nvSpPr>
          <p:cNvPr id="4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1E2420"/>
                </a:solidFill>
                <a:latin typeface="Calibri"/>
              </a:rPr>
              <a:t>Снижение ошибки к «прошлому году», %</a:t>
            </a:r>
          </a:p>
        </p:txBody>
      </p:sp>
      <p:graphicFrame>
        <p:nvGraphicFramePr>
          <p:cNvPr id="7" name="Качество по датам" descr="Диаграмма: Качество по датам"/>
          <p:cNvGraphicFramePr>
            <a:graphicFrameLocks noGrp="1"/>
          </p:cNvGraphicFramePr>
          <p:nvPr/>
        </p:nvGraphicFramePr>
        <p:xfrm>
          <a:off x="457200" y="1783080"/>
          <a:ext cx="59436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481328"/>
            <a:ext cx="505937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 lang="ru-RU">
                <a:solidFill>
                  <a:srgbClr val="1E2420"/>
                </a:solidFill>
                <a:latin typeface="Calibri"/>
              </a:rPr>
              <a:t>По культурам, конец сезона, %</a:t>
            </a:r>
          </a:p>
        </p:txBody>
      </p:sp>
      <p:graphicFrame>
        <p:nvGraphicFramePr>
          <p:cNvPr id="9" name="Качество по культурам" descr="Диаграмма: Качество по культурам"/>
          <p:cNvGraphicFramePr>
            <a:graphicFrameLocks noGrp="1"/>
          </p:cNvGraphicFramePr>
          <p:nvPr/>
        </p:nvGraphicFramePr>
        <p:xfrm>
          <a:off x="6492240" y="1783080"/>
          <a:ext cx="5150815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074920"/>
            <a:ext cx="352135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 lang="ru-RU">
                <a:solidFill>
                  <a:srgbClr val="1F4D3A"/>
                </a:solidFill>
                <a:latin typeface="Calibri"/>
              </a:rPr>
              <a:t>83–93 %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138928"/>
            <a:ext cx="1601114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 lang="ru-RU">
                <a:solidFill>
                  <a:srgbClr val="1E2420"/>
                </a:solidFill>
                <a:latin typeface="Calibri"/>
              </a:rPr>
              <a:t>покрытие 80 %-го интервала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06440"/>
            <a:ext cx="306415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lang="ru-RU">
                <a:solidFill>
                  <a:srgbClr val="5A615B"/>
                </a:solidFill>
                <a:latin typeface="Calibri"/>
              </a:rPr>
              <a:t>доля фактов внутри интервала у всех 35 итоговых моделей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5170" y="5074920"/>
            <a:ext cx="352135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63770" y="51206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 lang="ru-RU">
                <a:solidFill>
                  <a:srgbClr val="1F4D3A"/>
                </a:solidFill>
                <a:latin typeface="Calibri"/>
              </a:rPr>
              <a:t>±24 %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8250" y="5138928"/>
            <a:ext cx="1601114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 lang="ru-RU">
                <a:solidFill>
                  <a:srgbClr val="1E2420"/>
                </a:solidFill>
                <a:latin typeface="Calibri"/>
              </a:rPr>
              <a:t>полуширина интервала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770" y="5806440"/>
            <a:ext cx="306415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lang="ru-RU">
                <a:solidFill>
                  <a:srgbClr val="5A615B"/>
                </a:solidFill>
                <a:latin typeface="Calibri"/>
              </a:rPr>
              <a:t>к концу сезона; 1 мая — ±28 %: честный диапазон, не «точка»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1700" y="5074920"/>
            <a:ext cx="3521354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0300" y="51206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 lang="ru-RU">
                <a:solidFill>
                  <a:srgbClr val="1F4D3A"/>
                </a:solidFill>
                <a:latin typeface="Calibri"/>
              </a:rPr>
              <a:t>−14 %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4780" y="5138928"/>
            <a:ext cx="1601114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 lang="ru-RU">
                <a:solidFill>
                  <a:srgbClr val="1E2420"/>
                </a:solidFill>
                <a:latin typeface="Calibri"/>
              </a:rPr>
              <a:t>озимая пшеница с 1 мая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0300" y="5806440"/>
            <a:ext cx="306415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lang="ru-RU">
                <a:solidFill>
                  <a:srgbClr val="5A615B"/>
                </a:solidFill>
                <a:latin typeface="Calibri"/>
              </a:rPr>
              <a:t>к лучшему простому прогнозу; остальные культуры — с июля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Погода даёт 56–75 % прогноза, спутник — 15–24 %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ЧТО ДВИГАЕТ УРОЖАЙНОСТЬ</a:t>
            </a:r>
          </a:p>
        </p:txBody>
      </p:sp>
      <p:sp>
        <p:nvSpPr>
          <p:cNvPr id="4" name="Подзаголовок"/>
          <p:cNvSpPr txBox="1"/>
          <p:nvPr/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 lang="ru-RU">
                <a:solidFill>
                  <a:srgbClr val="5A615B"/>
                </a:solidFill>
                <a:latin typeface="Calibri"/>
              </a:rPr>
              <a:t>Доля блоков признаков в суммарном вкладе SHAP по культурам (LightGBM, TreeSHAP)</a:t>
            </a:r>
          </a:p>
        </p:txBody>
      </p:sp>
      <p:sp>
        <p:nvSpPr>
          <p:cNvPr id="5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6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graphicFrame>
        <p:nvGraphicFramePr>
          <p:cNvPr id="7" name="Вклад блоков признаков" descr="Диаграмма: Вклад блоков признаков"/>
          <p:cNvGraphicFramePr>
            <a:graphicFrameLocks noGrp="1"/>
          </p:cNvGraphicFramePr>
          <p:nvPr/>
        </p:nvGraphicFramePr>
        <p:xfrm>
          <a:off x="457200" y="1783080"/>
          <a:ext cx="69494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783080"/>
            <a:ext cx="3962095" cy="4526280"/>
          </a:xfrm>
          <a:prstGeom prst="roundRect">
            <a:avLst>
              <a:gd name="adj" fmla="val 3231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0" y="1920240"/>
            <a:ext cx="341345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ЧТО ГОВОРЯТ ГЛАВНЫЕ ПРИЗНАКИ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286000"/>
            <a:ext cx="3413455" cy="3017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000"/>
              </a:spcAft>
            </a:pPr>
            <a:r>
              <a:rPr sz="1400" b="1" i="0" lang="ru-RU">
                <a:solidFill>
                  <a:srgbClr val="1F4D3A"/>
                </a:solidFill>
                <a:latin typeface="Calibri"/>
              </a:rPr>
              <a:t>Озимая пшеница: </a:t>
            </a:r>
            <a:r>
              <a:rPr sz="1400" b="0" i="0" lang="ru-RU">
                <a:solidFill>
                  <a:srgbClr val="5A615B"/>
                </a:solidFill>
                <a:latin typeface="Calibri"/>
              </a:rPr>
              <a:t>снег и минимальная температура в марте — выход из зимы; перегрев поверхности в мае–июне (LST)</a:t>
            </a:r>
          </a:p>
          <a:p>
            <a:pPr algn="l">
              <a:spcAft>
                <a:spcPts val="1000"/>
              </a:spcAft>
            </a:pPr>
            <a:r>
              <a:rPr sz="1400" b="1" i="0" lang="ru-RU">
                <a:solidFill>
                  <a:srgbClr val="1F4D3A"/>
                </a:solidFill>
                <a:latin typeface="Calibri"/>
              </a:rPr>
              <a:t>Кукуруза: </a:t>
            </a:r>
            <a:r>
              <a:rPr sz="1400" b="0" i="0" lang="ru-RU">
                <a:solidFill>
                  <a:srgbClr val="5A615B"/>
                </a:solidFill>
                <a:latin typeface="Calibri"/>
              </a:rPr>
              <a:t>дефицит влажности воздуха в июле — засуха в цветение; влага почвы в августе</a:t>
            </a:r>
          </a:p>
          <a:p>
            <a:pPr algn="l">
              <a:spcAft>
                <a:spcPts val="1000"/>
              </a:spcAft>
            </a:pPr>
            <a:r>
              <a:rPr sz="1400" b="1" i="0" lang="ru-RU">
                <a:solidFill>
                  <a:srgbClr val="1F4D3A"/>
                </a:solidFill>
                <a:latin typeface="Calibri"/>
              </a:rPr>
              <a:t>Сахарная свёкла: </a:t>
            </a:r>
            <a:r>
              <a:rPr sz="1400" b="0" i="0" lang="ru-RU">
                <a:solidFill>
                  <a:srgbClr val="5A615B"/>
                </a:solidFill>
                <a:latin typeface="Calibri"/>
              </a:rPr>
              <a:t>водный баланс окна вегетации и ГТК — самая влаголюбивая культура</a:t>
            </a:r>
          </a:p>
          <a:p>
            <a:pPr algn="l">
              <a:spcAft>
                <a:spcPts val="1000"/>
              </a:spcAft>
            </a:pPr>
            <a:r>
              <a:rPr sz="1400" b="1" i="0" lang="ru-RU">
                <a:solidFill>
                  <a:srgbClr val="1F4D3A"/>
                </a:solidFill>
                <a:latin typeface="Calibri"/>
              </a:rPr>
              <a:t>Ячмень: </a:t>
            </a:r>
            <a:r>
              <a:rPr sz="1400" b="0" i="0" lang="ru-RU">
                <a:solidFill>
                  <a:srgbClr val="5A615B"/>
                </a:solidFill>
                <a:latin typeface="Calibri"/>
              </a:rPr>
              <a:t>жаркий июнь и тёплые июльские ночи вредят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5257800"/>
            <a:ext cx="3413455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 lang="ru-RU">
                <a:solidFill>
                  <a:srgbClr val="5A615B"/>
                </a:solidFill>
                <a:latin typeface="Calibri"/>
              </a:rPr>
              <a:t>Спутник сильнее всего у </a:t>
            </a:r>
            <a:r>
              <a:rPr sz="1300" b="1" i="0" lang="ru-RU">
                <a:solidFill>
                  <a:srgbClr val="1F4D3A"/>
                </a:solidFill>
                <a:latin typeface="Calibri"/>
              </a:rPr>
              <a:t>сои и подсолнечника</a:t>
            </a:r>
            <a:r>
              <a:rPr sz="1300" b="0" i="0" lang="ru-RU">
                <a:solidFill>
                  <a:srgbClr val="5A615B"/>
                </a:solidFill>
                <a:latin typeface="Calibri"/>
              </a:rPr>
              <a:t>: у них погода региона объясняет меньше, а состояние посевов видно из космоса.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Изменить план немного — получить заметный эффект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ОПТИМИЗАЦИЯ СТРУКТУРЫ ПОСЕВОВ</a:t>
            </a:r>
          </a:p>
        </p:txBody>
      </p:sp>
      <p:sp>
        <p:nvSpPr>
          <p:cNvPr id="4" name="Подзаголовок"/>
          <p:cNvSpPr txBox="1"/>
          <p:nvPr/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 lang="ru-RU">
                <a:solidFill>
                  <a:srgbClr val="5A615B"/>
                </a:solidFill>
                <a:latin typeface="Calibri"/>
              </a:rPr>
              <a:t>Сценарная стохастическая оптимизация структуры посевов с CVaR и ограничением на отклонение от плана</a:t>
            </a:r>
          </a:p>
        </p:txBody>
      </p:sp>
      <p:sp>
        <p:nvSpPr>
          <p:cNvPr id="5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6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 lang="ru-RU">
                <a:solidFill>
                  <a:srgbClr val="1E2420"/>
                </a:solidFill>
                <a:latin typeface="Calibri"/>
              </a:rPr>
              <a:t>Выигрыш по всем субъектам, млрд ₽ в год, при сдвиге структуры не более δ п.п.</a:t>
            </a:r>
          </a:p>
        </p:txBody>
      </p:sp>
      <p:graphicFrame>
        <p:nvGraphicFramePr>
          <p:cNvPr id="8" name="Кривая δ → эффект" descr="Диаграмма: Кривая δ → эффект"/>
          <p:cNvGraphicFramePr>
            <a:graphicFrameLocks noGrp="1"/>
          </p:cNvGraphicFramePr>
          <p:nvPr/>
        </p:nvGraphicFramePr>
        <p:xfrm>
          <a:off x="457200" y="2057400"/>
          <a:ext cx="64922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417319" y="224028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500" b="1" i="0" lang="ru-RU">
                <a:solidFill>
                  <a:srgbClr val="C8962E"/>
                </a:solidFill>
                <a:latin typeface="Calibri"/>
              </a:rPr>
              <a:t>● </a:t>
            </a:r>
            <a:r>
              <a:rPr sz="1500" b="1" i="0" lang="ru-RU">
                <a:solidFill>
                  <a:srgbClr val="143629"/>
                </a:solidFill>
                <a:latin typeface="Calibri"/>
              </a:rPr>
              <a:t>5 п.п.: +65 млрд ₽ в год</a:t>
            </a:r>
          </a:p>
          <a:p>
            <a:pPr algn="l">
              <a:spcAft>
                <a:spcPts val="300"/>
              </a:spcAft>
            </a:pPr>
            <a:r>
              <a:rPr sz="1500" b="1" i="0" lang="ru-RU">
                <a:solidFill>
                  <a:srgbClr val="C8962E"/>
                </a:solidFill>
                <a:latin typeface="Calibri"/>
              </a:rPr>
              <a:t>● </a:t>
            </a:r>
            <a:r>
              <a:rPr sz="1500" b="1" i="0" lang="ru-RU">
                <a:solidFill>
                  <a:srgbClr val="143629"/>
                </a:solidFill>
                <a:latin typeface="Calibri"/>
              </a:rPr>
              <a:t>10 п.п.: +119 млрд ₽ в 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218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1F4D3A"/>
                </a:solidFill>
                <a:latin typeface="Calibri"/>
              </a:rPr>
              <a:t>━ </a:t>
            </a:r>
            <a:r>
              <a:rPr sz="1200" b="0" i="0" lang="ru-RU">
                <a:solidFill>
                  <a:srgbClr val="5A615B"/>
                </a:solidFill>
                <a:latin typeface="Calibri"/>
              </a:rPr>
              <a:t>средняя прибыль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3218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C8962E"/>
                </a:solidFill>
                <a:latin typeface="Calibri"/>
              </a:rPr>
              <a:t>╌ </a:t>
            </a:r>
            <a:r>
              <a:rPr sz="1200" b="0" i="0" lang="ru-RU">
                <a:solidFill>
                  <a:srgbClr val="5A615B"/>
                </a:solidFill>
                <a:latin typeface="Calibri"/>
              </a:rPr>
              <a:t>прибыль в худших 20 % сезонов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 lang="ru-RU">
                <a:solidFill>
                  <a:srgbClr val="5A615B"/>
                </a:solidFill>
                <a:latin typeface="Calibri"/>
              </a:rPr>
              <a:t>Первые 10 п.п. дают 49 % эффекта, достижимого при 30 п.п.: дальше кривая выходит на плато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691640"/>
            <a:ext cx="4327855" cy="1463040"/>
          </a:xfrm>
          <a:prstGeom prst="roundRect">
            <a:avLst>
              <a:gd name="adj" fmla="val 8750"/>
            </a:avLst>
          </a:prstGeom>
          <a:solidFill>
            <a:srgbClr val="1F4D3A"/>
          </a:solidFill>
          <a:ln>
            <a:noFill/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43800" y="1828800"/>
            <a:ext cx="3870655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600" b="1" i="0" lang="ru-RU">
                <a:solidFill>
                  <a:srgbClr val="E2B04A"/>
                </a:solidFill>
                <a:latin typeface="Calibri"/>
              </a:rPr>
              <a:t>+1 301 ₽/га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560320"/>
            <a:ext cx="387065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300" b="0" i="0" lang="ru-RU">
                <a:solidFill>
                  <a:srgbClr val="FFFFFF"/>
                </a:solidFill>
                <a:latin typeface="Calibri"/>
              </a:rPr>
              <a:t>ожидаемой прибыли при сдвиге ≤ 5 п.п. (+15 %)</a:t>
            </a:r>
          </a:p>
          <a:p>
            <a:pPr algn="l">
              <a:spcAft>
                <a:spcPts val="200"/>
              </a:spcAft>
            </a:pPr>
            <a:r>
              <a:rPr sz="1200" b="0" i="0" lang="ru-RU">
                <a:solidFill>
                  <a:srgbClr val="C9DACE"/>
                </a:solidFill>
                <a:latin typeface="Calibri"/>
              </a:rPr>
              <a:t>медиана по субъектам +588 ₽/га, выигрыш у 97 %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291840"/>
            <a:ext cx="4327855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43800" y="3429000"/>
            <a:ext cx="3870655" cy="6629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200" b="1" i="0" lang="ru-RU">
                <a:solidFill>
                  <a:srgbClr val="1F4D3A"/>
                </a:solidFill>
                <a:latin typeface="Calibri"/>
              </a:rPr>
              <a:t>+1 272 ₽/га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091939"/>
            <a:ext cx="3870655" cy="4343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300" b="0" i="0" lang="ru-RU">
                <a:solidFill>
                  <a:srgbClr val="1E2420"/>
                </a:solidFill>
                <a:latin typeface="Calibri"/>
              </a:rPr>
              <a:t>в худших 20 % сезонов (CVaR)</a:t>
            </a:r>
          </a:p>
          <a:p>
            <a:pPr algn="l">
              <a:spcAft>
                <a:spcPts val="200"/>
              </a:spcAft>
            </a:pPr>
            <a:r>
              <a:rPr sz="1200" b="0" i="0" lang="ru-RU">
                <a:solidFill>
                  <a:srgbClr val="8C918A"/>
                </a:solidFill>
                <a:latin typeface="Calibri"/>
              </a:rPr>
              <a:t>худший сезон лучше в 56 из 62 субъектов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754880"/>
            <a:ext cx="4327855" cy="1280160"/>
          </a:xfrm>
          <a:prstGeom prst="roundRect">
            <a:avLst>
              <a:gd name="adj" fmla="val 10000"/>
            </a:avLst>
          </a:prstGeom>
          <a:solidFill>
            <a:srgbClr val="F8EDD3"/>
          </a:solidFill>
          <a:ln>
            <a:noFill/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43800" y="4809744"/>
            <a:ext cx="3870655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1" i="0" lang="ru-RU">
                <a:solidFill>
                  <a:srgbClr val="C8962E"/>
                </a:solidFill>
                <a:latin typeface="Calibri"/>
              </a:rPr>
              <a:t>Проверка на 2012–2025 </a:t>
            </a:r>
            <a:r>
              <a:rPr sz="1300" b="0" i="0" lang="ru-RU">
                <a:solidFill>
                  <a:srgbClr val="1E2420"/>
                </a:solidFill>
                <a:latin typeface="Calibri"/>
              </a:rPr>
              <a:t>(913 пар «субъект × год», только данные до года t, исторические сценарии): </a:t>
            </a:r>
          </a:p>
          <a:p>
            <a:pPr algn="l">
              <a:spcAft>
                <a:spcPts val="400"/>
              </a:spcAft>
            </a:pPr>
            <a:r>
              <a:rPr sz="1300" b="1" i="0" lang="ru-RU">
                <a:solidFill>
                  <a:srgbClr val="1E2420"/>
                </a:solidFill>
                <a:latin typeface="Calibri"/>
              </a:rPr>
              <a:t>факт +961 ₽/га</a:t>
            </a:r>
            <a:r>
              <a:rPr sz="1300" b="0" i="0" lang="ru-RU">
                <a:solidFill>
                  <a:srgbClr val="1E2420"/>
                </a:solidFill>
                <a:latin typeface="Calibri"/>
              </a:rPr>
              <a:t> — 78 % обещанного; лучше текущего плана в 74 % случаев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44768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 lang="ru-RU">
                <a:solidFill>
                  <a:srgbClr val="8C918A"/>
                </a:solidFill>
                <a:latin typeface="Calibri"/>
              </a:rPr>
              <a:t>62 субъекта, 50,1 млн га, 21 погодных сценарий. Затраты на гектар — допущения: эффект читать как верхнюю оценку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Агрокаст: прогноз и рекомендации в одном сайте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ПРОТОТИП</a:t>
            </a:r>
          </a:p>
        </p:txBody>
      </p:sp>
      <p:sp>
        <p:nvSpPr>
          <p:cNvPr id="4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pic>
        <p:nvPicPr>
          <p:cNvPr id="6" name="Picture 5" descr="Скриншот сайта: карта прогноза урожайности по субъектам РФ со шкалой да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675120" cy="3931920"/>
          </a:xfrm>
          <a:prstGeom prst="roundRect">
            <a:avLst>
              <a:gd name="adj" fmla="val 2790"/>
            </a:avLst>
          </a:prstGeom>
          <a:ln w="9525">
            <a:solidFill>
              <a:srgbClr val="E6E1D6"/>
            </a:solidFill>
          </a:ln>
          <a:effectLst>
            <a:outerShdw blurRad="279400" dist="76200" dir="5400000" algn="t" rotWithShape="0">
              <a:srgbClr val="1E2420">
                <a:alpha val="20000"/>
              </a:srgbClr>
            </a:outerShdw>
          </a:effectLst>
        </p:spPr>
      </p:pic>
      <p:sp>
        <p:nvSpPr>
          <p:cNvPr id="7" name="Rounded Rectangle 6"/>
          <p:cNvSpPr/>
          <p:nvPr/>
        </p:nvSpPr>
        <p:spPr>
          <a:xfrm>
            <a:off x="548640" y="135331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 lang="ru-RU">
                <a:solidFill>
                  <a:srgbClr val="FFFFFF"/>
                </a:solidFill>
                <a:latin typeface="Calibri"/>
              </a:rPr>
              <a:t>Карта · 7 культур · 5 дат</a:t>
            </a:r>
          </a:p>
        </p:txBody>
      </p:sp>
      <p:pic>
        <p:nvPicPr>
          <p:cNvPr id="8" name="Picture 7" descr="Скриншот сайта: карточка региона с историей урожайности, прогнозом и факторам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1" y="1737360"/>
            <a:ext cx="4117543" cy="1760219"/>
          </a:xfrm>
          <a:prstGeom prst="roundRect">
            <a:avLst>
              <a:gd name="adj" fmla="val 6233"/>
            </a:avLst>
          </a:prstGeom>
          <a:ln w="9525">
            <a:solidFill>
              <a:srgbClr val="E6E1D6"/>
            </a:solidFill>
          </a:ln>
          <a:effectLst>
            <a:outerShdw blurRad="279400" dist="76200" dir="5400000" algn="t" rotWithShape="0">
              <a:srgbClr val="1E2420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7525511" y="135331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 lang="ru-RU">
                <a:solidFill>
                  <a:srgbClr val="FFFFFF"/>
                </a:solidFill>
                <a:latin typeface="Calibri"/>
              </a:rPr>
              <a:t>Карточка региона</a:t>
            </a:r>
          </a:p>
        </p:txBody>
      </p:sp>
      <p:pic>
        <p:nvPicPr>
          <p:cNvPr id="10" name="Picture 9" descr="Скриншот сайта: оптимизация структуры посевов, план «было — стало»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1" y="3881628"/>
            <a:ext cx="4117543" cy="1760219"/>
          </a:xfrm>
          <a:prstGeom prst="roundRect">
            <a:avLst>
              <a:gd name="adj" fmla="val 6233"/>
            </a:avLst>
          </a:prstGeom>
          <a:ln w="9525">
            <a:solidFill>
              <a:srgbClr val="E6E1D6"/>
            </a:solidFill>
          </a:ln>
          <a:effectLst>
            <a:outerShdw blurRad="279400" dist="76200" dir="5400000" algn="t" rotWithShape="0">
              <a:srgbClr val="1E2420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7525511" y="3561587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 i="0" lang="ru-RU">
                <a:solidFill>
                  <a:srgbClr val="FFFFFF"/>
                </a:solidFill>
                <a:latin typeface="Calibri"/>
              </a:rPr>
              <a:t>Оптимизация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806440"/>
            <a:ext cx="11094415" cy="530352"/>
          </a:xfrm>
          <a:prstGeom prst="roundRect">
            <a:avLst>
              <a:gd name="adj" fmla="val 24137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59" y="5806440"/>
            <a:ext cx="5486400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1" i="0" lang="ru-RU">
                <a:solidFill>
                  <a:srgbClr val="1F4D3A"/>
                </a:solidFill>
                <a:latin typeface="Calibri"/>
              </a:rPr>
              <a:t>Код и сайт: </a:t>
            </a:r>
            <a:r>
              <a:rPr sz="1500" b="0" i="0" lang="ru-RU">
                <a:solidFill>
                  <a:srgbClr val="1E2420"/>
                </a:solidFill>
                <a:latin typeface="Calibri"/>
              </a:rPr>
              <a:t>https://parampaika.github.io/AgroCast/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806440"/>
            <a:ext cx="5150815" cy="5303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300" b="0" i="0" lang="ru-RU">
                <a:solidFill>
                  <a:srgbClr val="5A615B"/>
                </a:solidFill>
                <a:latin typeface="Calibri"/>
              </a:rPr>
              <a:t>Статический сайт без сервера: работает офлайн, готов к GitHub Pages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1E2420"/>
                </a:solidFill>
                <a:latin typeface="Calibri"/>
              </a:rPr>
              <a:t>Ограничения и план развития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ЧЕСТНО И ДАЛЬШЕ</a:t>
            </a:r>
          </a:p>
        </p:txBody>
      </p:sp>
      <p:sp>
        <p:nvSpPr>
          <p:cNvPr id="4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8C918A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8C918A"/>
                </a:solidFill>
                <a:latin typeface="Calibri"/>
              </a:rPr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4937760" cy="475488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9525">
            <a:solidFill>
              <a:srgbClr val="E6E1D6"/>
            </a:solidFill>
          </a:ln>
          <a:effectLst>
            <a:outerShdw blurRad="203200" dist="50800" dir="5400000" algn="t" rotWithShape="0">
              <a:srgbClr val="1E24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645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ОГРАНИЧЕНИЯ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11680"/>
            <a:ext cx="4389120" cy="416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1700"/>
              </a:spcAft>
            </a:pPr>
            <a:r>
              <a:rPr sz="1700" b="1" i="0" lang="ru-RU">
                <a:solidFill>
                  <a:srgbClr val="1E2420"/>
                </a:solidFill>
                <a:latin typeface="Calibri"/>
              </a:rPr>
              <a:t>Уровень — субъект РФ.</a:t>
            </a:r>
            <a:r>
              <a:rPr sz="1700" b="0" i="0" lang="ru-RU">
                <a:solidFill>
                  <a:srgbClr val="5A615B"/>
                </a:solidFill>
                <a:latin typeface="Calibri"/>
              </a:rPr>
              <a:t> Хозяйство учитывается поправками на почву, сорт и агротехнику.</a:t>
            </a:r>
          </a:p>
          <a:p>
            <a:pPr algn="l">
              <a:spcAft>
                <a:spcPts val="1700"/>
              </a:spcAft>
            </a:pPr>
            <a:r>
              <a:rPr sz="1700" b="1" i="0" lang="ru-RU">
                <a:solidFill>
                  <a:srgbClr val="1E2420"/>
                </a:solidFill>
                <a:latin typeface="Calibri"/>
              </a:rPr>
              <a:t>Короткие ряды:</a:t>
            </a:r>
            <a:r>
              <a:rPr sz="1700" b="0" i="0" lang="ru-RU">
                <a:solidFill>
                  <a:srgbClr val="5A615B"/>
                </a:solidFill>
                <a:latin typeface="Calibri"/>
              </a:rPr>
              <a:t> 14 лет проверки, различия в 1–2 п. п. между конфигурациями — в пределах шума.</a:t>
            </a:r>
          </a:p>
          <a:p>
            <a:pPr algn="l">
              <a:spcAft>
                <a:spcPts val="1700"/>
              </a:spcAft>
            </a:pPr>
            <a:r>
              <a:rPr sz="1700" b="1" i="0" lang="ru-RU">
                <a:solidFill>
                  <a:srgbClr val="1E2420"/>
                </a:solidFill>
                <a:latin typeface="Calibri"/>
              </a:rPr>
              <a:t>Интервалы широкие:</a:t>
            </a:r>
            <a:r>
              <a:rPr sz="1700" b="0" i="0" lang="ru-RU">
                <a:solidFill>
                  <a:srgbClr val="5A615B"/>
                </a:solidFill>
                <a:latin typeface="Calibri"/>
              </a:rPr>
              <a:t> ±24 % в конце сезона — это честная неопределённость.</a:t>
            </a:r>
          </a:p>
          <a:p>
            <a:pPr algn="l">
              <a:spcAft>
                <a:spcPts val="1700"/>
              </a:spcAft>
            </a:pPr>
            <a:r>
              <a:rPr sz="1700" b="1" i="0" lang="ru-RU">
                <a:solidFill>
                  <a:srgbClr val="1E2420"/>
                </a:solidFill>
                <a:latin typeface="Calibri"/>
              </a:rPr>
              <a:t>2025 год:</a:t>
            </a:r>
            <a:r>
              <a:rPr sz="1700" b="0" i="0" lang="ru-RU">
                <a:solidFill>
                  <a:srgbClr val="5A615B"/>
                </a:solidFill>
                <a:latin typeface="Calibri"/>
              </a:rPr>
              <a:t> итогов Росстата ещё нет, урожайность восстановлена по сбору и посевной.</a:t>
            </a:r>
          </a:p>
          <a:p>
            <a:pPr algn="l">
              <a:spcAft>
                <a:spcPts val="1700"/>
              </a:spcAft>
            </a:pPr>
            <a:r>
              <a:rPr sz="1700" b="1" i="0" lang="ru-RU">
                <a:solidFill>
                  <a:srgbClr val="1E2420"/>
                </a:solidFill>
                <a:latin typeface="Calibri"/>
              </a:rPr>
              <a:t>Затраты — допущения.</a:t>
            </a:r>
            <a:r>
              <a:rPr sz="1700" b="0" i="0" lang="ru-RU">
                <a:solidFill>
                  <a:srgbClr val="5A615B"/>
                </a:solidFill>
                <a:latin typeface="Calibri"/>
              </a:rPr>
              <a:t> Эффект оптимизации читать как верхнюю оценку.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572768"/>
            <a:ext cx="58366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C8962E"/>
                </a:solidFill>
                <a:latin typeface="Calibri"/>
              </a:rPr>
              <a:t>ПЛАН РАЗВИТИЯ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2011680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 lang="ru-RU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57900" y="2514600"/>
            <a:ext cx="0" cy="347472"/>
          </a:xfrm>
          <a:prstGeom prst="line">
            <a:avLst/>
          </a:prstGeom>
          <a:ln w="25400">
            <a:solidFill>
              <a:srgbClr val="E6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37959" y="1938528"/>
            <a:ext cx="510509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 lang="ru-RU">
                <a:solidFill>
                  <a:srgbClr val="1E2420"/>
                </a:solidFill>
                <a:latin typeface="Calibri"/>
              </a:rPr>
              <a:t>Районы и хозяйства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304288"/>
            <a:ext cx="5105095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 lang="ru-RU">
                <a:solidFill>
                  <a:srgbClr val="5A615B"/>
                </a:solidFill>
                <a:latin typeface="Calibri"/>
              </a:rPr>
              <a:t>данные уровня района и хозяйства вместо региона</a:t>
            </a:r>
          </a:p>
        </p:txBody>
      </p:sp>
      <p:sp>
        <p:nvSpPr>
          <p:cNvPr id="14" name="Oval 13"/>
          <p:cNvSpPr/>
          <p:nvPr/>
        </p:nvSpPr>
        <p:spPr>
          <a:xfrm>
            <a:off x="5806440" y="2862072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 lang="ru-RU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57900" y="3364992"/>
            <a:ext cx="0" cy="347472"/>
          </a:xfrm>
          <a:prstGeom prst="line">
            <a:avLst/>
          </a:prstGeom>
          <a:ln w="25400">
            <a:solidFill>
              <a:srgbClr val="E6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37959" y="2788920"/>
            <a:ext cx="510509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 lang="ru-RU">
                <a:solidFill>
                  <a:srgbClr val="1E2420"/>
                </a:solidFill>
                <a:latin typeface="Calibri"/>
              </a:rPr>
              <a:t>Спутник в реальном времени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154680"/>
            <a:ext cx="5105095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 lang="ru-RU">
                <a:solidFill>
                  <a:srgbClr val="5A615B"/>
                </a:solidFill>
                <a:latin typeface="Calibri"/>
              </a:rPr>
              <a:t>ежедневные NDVI/LAI с маской культур в течение сезона</a:t>
            </a:r>
          </a:p>
        </p:txBody>
      </p:sp>
      <p:sp>
        <p:nvSpPr>
          <p:cNvPr id="18" name="Oval 17"/>
          <p:cNvSpPr/>
          <p:nvPr/>
        </p:nvSpPr>
        <p:spPr>
          <a:xfrm>
            <a:off x="5806440" y="3712463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 lang="ru-RU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57900" y="4215384"/>
            <a:ext cx="0" cy="347471"/>
          </a:xfrm>
          <a:prstGeom prst="line">
            <a:avLst/>
          </a:prstGeom>
          <a:ln w="25400">
            <a:solidFill>
              <a:srgbClr val="E6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37959" y="3639312"/>
            <a:ext cx="510509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 lang="ru-RU">
                <a:solidFill>
                  <a:srgbClr val="1E2420"/>
                </a:solidFill>
                <a:latin typeface="Calibri"/>
              </a:rPr>
              <a:t>Цены и затраты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005072"/>
            <a:ext cx="5105095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 lang="ru-RU">
                <a:solidFill>
                  <a:srgbClr val="5A615B"/>
                </a:solidFill>
                <a:latin typeface="Calibri"/>
              </a:rPr>
              <a:t>сценарии «цена × урожай», реальные нормативы затрат</a:t>
            </a:r>
          </a:p>
        </p:txBody>
      </p:sp>
      <p:sp>
        <p:nvSpPr>
          <p:cNvPr id="22" name="Oval 21"/>
          <p:cNvSpPr/>
          <p:nvPr/>
        </p:nvSpPr>
        <p:spPr>
          <a:xfrm>
            <a:off x="5806440" y="4562856"/>
            <a:ext cx="502920" cy="502920"/>
          </a:xfrm>
          <a:prstGeom prst="ellipse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 lang="ru-RU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7900" y="5065776"/>
            <a:ext cx="0" cy="347472"/>
          </a:xfrm>
          <a:prstGeom prst="line">
            <a:avLst/>
          </a:prstGeom>
          <a:ln w="25400">
            <a:solidFill>
              <a:srgbClr val="E6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37959" y="4489704"/>
            <a:ext cx="510509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 lang="ru-RU">
                <a:solidFill>
                  <a:srgbClr val="1E2420"/>
                </a:solidFill>
                <a:latin typeface="Calibri"/>
              </a:rPr>
              <a:t>Удобрения и агротехника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4855464"/>
            <a:ext cx="5105095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 lang="ru-RU">
                <a:solidFill>
                  <a:srgbClr val="5A615B"/>
                </a:solidFill>
                <a:latin typeface="Calibri"/>
              </a:rPr>
              <a:t>кривые «доза → прибавка» и рекомендации по срокам</a:t>
            </a:r>
          </a:p>
        </p:txBody>
      </p:sp>
      <p:sp>
        <p:nvSpPr>
          <p:cNvPr id="26" name="Oval 25"/>
          <p:cNvSpPr/>
          <p:nvPr/>
        </p:nvSpPr>
        <p:spPr>
          <a:xfrm>
            <a:off x="5806440" y="5413248"/>
            <a:ext cx="502920" cy="502920"/>
          </a:xfrm>
          <a:prstGeom prst="ellipse">
            <a:avLst/>
          </a:prstGeom>
          <a:solidFill>
            <a:srgbClr val="E2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 lang="ru-RU">
                <a:solidFill>
                  <a:srgbClr val="143629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5340096"/>
            <a:ext cx="510509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 i="0" lang="ru-RU">
                <a:solidFill>
                  <a:srgbClr val="1E2420"/>
                </a:solidFill>
                <a:latin typeface="Calibri"/>
              </a:rPr>
              <a:t>Интеграция с данными банка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5705856"/>
            <a:ext cx="5105095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 lang="ru-RU">
                <a:solidFill>
                  <a:srgbClr val="5A615B"/>
                </a:solidFill>
                <a:latin typeface="Calibri"/>
              </a:rPr>
              <a:t>кредитные портфели, страхование, график платежей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21792"/>
            <a:ext cx="11094415" cy="566928"/>
          </a:xfrm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lang="ru-RU">
                <a:solidFill>
                  <a:srgbClr val="FFFFFF"/>
                </a:solidFill>
                <a:latin typeface="Calibri"/>
              </a:rPr>
              <a:t>Больше, чем модель: полноценное исследование</a:t>
            </a:r>
          </a:p>
        </p:txBody>
      </p:sp>
      <p:sp>
        <p:nvSpPr>
          <p:cNvPr id="3" name="Рубрика"/>
          <p:cNvSpPr txBox="1"/>
          <p:nvPr/>
        </p:nvSpPr>
        <p:spPr>
          <a:xfrm>
            <a:off x="548640" y="32918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 lang="ru-RU">
                <a:solidFill>
                  <a:srgbClr val="E2B04A"/>
                </a:solidFill>
                <a:latin typeface="Calibri"/>
              </a:rPr>
              <a:t>ИТОГИ</a:t>
            </a:r>
          </a:p>
        </p:txBody>
      </p:sp>
      <p:sp>
        <p:nvSpPr>
          <p:cNvPr id="4" name="Колонтитул"/>
          <p:cNvSpPr txBox="1"/>
          <p:nvPr/>
        </p:nvSpPr>
        <p:spPr>
          <a:xfrm>
            <a:off x="548640" y="6473952"/>
            <a:ext cx="8686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 lang="ru-RU">
                <a:solidFill>
                  <a:srgbClr val="9DB8A8"/>
                </a:solidFill>
                <a:latin typeface="Calibri"/>
              </a:rPr>
              <a:t>Агрокаст · кейс «Своё Фермерство», задача 5 · решение участника конкурса, не продукт банка</a:t>
            </a:r>
          </a:p>
        </p:txBody>
      </p:sp>
      <p:sp>
        <p:nvSpPr>
          <p:cNvPr id="5" name="Номер слайда"/>
          <p:cNvSpPr txBox="1"/>
          <p:nvPr/>
        </p:nvSpPr>
        <p:spPr>
          <a:xfrm>
            <a:off x="11094415" y="6473952"/>
            <a:ext cx="5486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B6F15528-21DE-4FAA-801E-634DDDAF4B2B}" type="slidenum">
              <a:rPr lang="ru-RU" sz="1000">
                <a:solidFill>
                  <a:srgbClr val="9DB8A8"/>
                </a:solidFill>
                <a:latin typeface="Calibri"/>
              </a:rPr>
              <a:t>‹#›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20440" cy="2423160"/>
          </a:xfrm>
          <a:prstGeom prst="roundRect">
            <a:avLst>
              <a:gd name="adj" fmla="val 5283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4400" b="1" i="0" lang="ru-RU">
                <a:solidFill>
                  <a:srgbClr val="E2B04A"/>
                </a:solidFill>
                <a:latin typeface="Calibri"/>
              </a:rPr>
              <a:t>−30 %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 lang="ru-RU">
                <a:solidFill>
                  <a:srgbClr val="E8F0EA"/>
                </a:solidFill>
                <a:latin typeface="Calibri"/>
              </a:rPr>
              <a:t>ошибки к прогнозу «как в прошлом году» — на честной проверке по времени 2012–2025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600200"/>
            <a:ext cx="3520440" cy="2423160"/>
          </a:xfrm>
          <a:prstGeom prst="roundRect">
            <a:avLst>
              <a:gd name="adj" fmla="val 5283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08575" y="173736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4400" b="1" i="0" lang="ru-RU">
                <a:solidFill>
                  <a:srgbClr val="E2B04A"/>
                </a:solidFill>
                <a:latin typeface="Calibri"/>
              </a:rPr>
              <a:t>17 → 683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5" y="278892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 lang="ru-RU">
                <a:solidFill>
                  <a:srgbClr val="E8F0EA"/>
                </a:solidFill>
                <a:latin typeface="Calibri"/>
              </a:rPr>
              <a:t>источников данных → признаков: слои, тесты, воспроизводимая сборка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1600200"/>
            <a:ext cx="3520440" cy="2423160"/>
          </a:xfrm>
          <a:prstGeom prst="roundRect">
            <a:avLst>
              <a:gd name="adj" fmla="val 5283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94192" y="173736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4400" b="1" i="0" lang="ru-RU">
                <a:solidFill>
                  <a:srgbClr val="E2B04A"/>
                </a:solidFill>
                <a:latin typeface="Calibri"/>
              </a:rPr>
              <a:t>+1 301 ₽/га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788920"/>
            <a:ext cx="2971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 lang="ru-RU">
                <a:solidFill>
                  <a:srgbClr val="E8F0EA"/>
                </a:solidFill>
                <a:latin typeface="Calibri"/>
              </a:rPr>
              <a:t>от малых изменений плана посевов: оптимизация с CVaR, проверена на прошлом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 i="0" lang="ru-RU">
                <a:solidFill>
                  <a:srgbClr val="D5E3DA"/>
                </a:solidFill>
                <a:latin typeface="Calibri"/>
              </a:rPr>
              <a:t>Сайт, код, научный отчёт и тесты — в репозитории; всё пересобирается одной командой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11094415" cy="1325880"/>
          </a:xfrm>
          <a:prstGeom prst="roundRect">
            <a:avLst>
              <a:gd name="adj" fmla="val 9655"/>
            </a:avLst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2600" b="1" i="0" lang="ru-RU">
                <a:solidFill>
                  <a:srgbClr val="FFFFFF"/>
                </a:solidFill>
                <a:latin typeface="Calibri"/>
              </a:rPr>
              <a:t>Соболев Даниил</a:t>
            </a:r>
          </a:p>
          <a:p>
            <a:pPr algn="l">
              <a:spcAft>
                <a:spcPts val="400"/>
              </a:spcAft>
            </a:pPr>
            <a:r>
              <a:rPr sz="1500" b="0" i="0" lang="ru-RU">
                <a:solidFill>
                  <a:srgbClr val="D5E3DA"/>
                </a:solidFill>
                <a:latin typeface="Calibri"/>
              </a:rPr>
              <a:t>аспирант СПбПУ, специальность 5.2.2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5029200"/>
            <a:ext cx="4785055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300"/>
              </a:spcAft>
            </a:pPr>
            <a:r>
              <a:rPr sz="1400" b="0" i="0" lang="ru-RU">
                <a:solidFill>
                  <a:srgbClr val="9DB8A8"/>
                </a:solidFill>
                <a:latin typeface="Calibri"/>
              </a:rPr>
              <a:t>e-mail: </a:t>
            </a:r>
            <a:r>
              <a:rPr sz="1400" b="1" i="0" lang="ru-RU">
                <a:solidFill>
                  <a:srgbClr val="FFFFFF"/>
                </a:solidFill>
                <a:latin typeface="Calibri"/>
              </a:rPr>
              <a:t>[заполнить]</a:t>
            </a:r>
          </a:p>
          <a:p>
            <a:pPr algn="l">
              <a:spcAft>
                <a:spcPts val="300"/>
              </a:spcAft>
            </a:pPr>
            <a:r>
              <a:rPr sz="1400" b="0" i="0" lang="ru-RU">
                <a:solidFill>
                  <a:srgbClr val="9DB8A8"/>
                </a:solidFill>
                <a:latin typeface="Calibri"/>
              </a:rPr>
              <a:t>Telegram: </a:t>
            </a:r>
            <a:r>
              <a:rPr sz="1400" b="1" i="0" lang="ru-RU">
                <a:solidFill>
                  <a:srgbClr val="FFFFFF"/>
                </a:solidFill>
                <a:latin typeface="Calibri"/>
              </a:rPr>
              <a:t>[заполнить]</a:t>
            </a:r>
          </a:p>
          <a:p>
            <a:pPr algn="l">
              <a:spcAft>
                <a:spcPts val="300"/>
              </a:spcAft>
            </a:pPr>
            <a:r>
              <a:rPr sz="1400" b="0" i="0" lang="ru-RU">
                <a:solidFill>
                  <a:srgbClr val="9DB8A8"/>
                </a:solidFill>
                <a:latin typeface="Calibri"/>
              </a:rPr>
              <a:t>Репозиторий: </a:t>
            </a:r>
            <a:r>
              <a:rPr sz="1400" b="1" i="0" lang="ru-RU">
                <a:solidFill>
                  <a:srgbClr val="FFFFFF"/>
                </a:solidFill>
                <a:latin typeface="Calibri"/>
              </a:rPr>
              <a:t>https://github.com/Parampaika/AgroCast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2420"/>
      </a:dk2>
      <a:lt2>
        <a:srgbClr val="F6F4EE"/>
      </a:lt2>
      <a:accent1>
        <a:srgbClr val="1F4D3A"/>
      </a:accent1>
      <a:accent2>
        <a:srgbClr val="E2B04A"/>
      </a:accent2>
      <a:accent3>
        <a:srgbClr val="2E6B4F"/>
      </a:accent3>
      <a:accent4>
        <a:srgbClr val="C8962E"/>
      </a:accent4>
      <a:accent5>
        <a:srgbClr val="6FA286"/>
      </a:accent5>
      <a:accent6>
        <a:srgbClr val="5A615B"/>
      </a:accent6>
      <a:hlink>
        <a:srgbClr val="2E6B4F"/>
      </a:hlink>
      <a:folHlink>
        <a:srgbClr val="5A61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2420"/>
      </a:dk2>
      <a:lt2>
        <a:srgbClr val="F6F4EE"/>
      </a:lt2>
      <a:accent1>
        <a:srgbClr val="1F4D3A"/>
      </a:accent1>
      <a:accent2>
        <a:srgbClr val="E2B04A"/>
      </a:accent2>
      <a:accent3>
        <a:srgbClr val="2E6B4F"/>
      </a:accent3>
      <a:accent4>
        <a:srgbClr val="C8962E"/>
      </a:accent4>
      <a:accent5>
        <a:srgbClr val="6FA286"/>
      </a:accent5>
      <a:accent6>
        <a:srgbClr val="5A615B"/>
      </a:accent6>
      <a:hlink>
        <a:srgbClr val="2E6B4F"/>
      </a:hlink>
      <a:folHlink>
        <a:srgbClr val="5A61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Агрокаст: прогноз урожайности и оптимизация структуры посевов</dc:title>
  <dc:subject>Кейс «Своё Фермерство», задача 5</dc:subject>
  <dc:creator>Соболев Даниил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